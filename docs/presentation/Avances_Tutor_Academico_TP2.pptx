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737360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32688"/>
            <a:ext cx="274320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ENTREGA 2 · AVANCES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Tutor Académico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0">
                <a:solidFill>
                  <a:srgbClr val="8B5CF6"/>
                </a:solidFill>
                <a:latin typeface="Calibri Light"/>
              </a:rPr>
              <a:t>Avances de implementación — agentes en ejecución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C4B5FD"/>
                </a:solidFill>
                <a:latin typeface="Calibri"/>
              </a:rPr>
              <a:t>Grafos reales de cada agente · traza real de generación de examen · estado por épica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9CA3AF"/>
                </a:solidFill>
                <a:latin typeface="Calibri"/>
              </a:rPr>
              <a:t>Trabajo Práctico N°2  ·  Inteligencia Artificial 2026  ·  UTN Santa Fe — CIDISI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CÓMO AVANZAMOS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Una épica por rama, integradas a dev por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Cada épica se desarrolló en su rama </a:t>
            </a:r>
            <a:r>
              <a:rPr sz="1400" b="1">
                <a:solidFill>
                  <a:srgbClr val="4F46E5"/>
                </a:solidFill>
                <a:latin typeface="Calibri"/>
              </a:rPr>
              <a:t>feat/epic-XX</a:t>
            </a:r>
            <a:r>
              <a:rPr sz="1400" b="0">
                <a:solidFill>
                  <a:srgbClr val="1F2937"/>
                </a:solidFill>
                <a:latin typeface="Calibri"/>
              </a:rPr>
              <a:t> y se integró a </a:t>
            </a:r>
            <a:r>
              <a:rPr sz="1400" b="1">
                <a:solidFill>
                  <a:srgbClr val="4F46E5"/>
                </a:solidFill>
                <a:latin typeface="Calibri"/>
              </a:rPr>
              <a:t>dev</a:t>
            </a:r>
            <a:r>
              <a:rPr sz="1400" b="0">
                <a:solidFill>
                  <a:srgbClr val="1F2937"/>
                </a:solidFill>
                <a:latin typeface="Calibri"/>
              </a:rPr>
              <a:t> mediante Pull Request.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82880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120640"/>
                <a:gridCol w="4754880"/>
              </a:tblGrid>
              <a:tr h="39069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Épica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Componente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Estado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Ingestor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ExamGenerator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ExerciseGenerator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Evaluator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Support Agent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UI — Next.js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Refactor de arquitectura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Observabilidad (Langfuse)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⏳  feat/epic-08 · en progreso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09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Profile bootstrap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t>📋  identificada · gap a cerrar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Orquestador + 5 agentes especializados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828800"/>
            <a:ext cx="2468880" cy="10058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828800"/>
            <a:ext cx="246888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C4B5FD"/>
                </a:solidFill>
                <a:latin typeface="Calibri"/>
              </a:rPr>
              <a:t>Plan-and-Execute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Ingestor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ingiere material → RAG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26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93192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ExamGenerator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407408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exámenes MCQ + abiertas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12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12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393192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ExerciseGenerator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407408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ejercicios prácticos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98079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98079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19" y="393192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Evaluator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4407408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corrige + feedback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199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84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3192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4407408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perfil y progreso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53212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Cada agente es un </a:t>
            </a:r>
            <a:r>
              <a:rPr sz="1300" b="1">
                <a:solidFill>
                  <a:srgbClr val="6D28D9"/>
                </a:solidFill>
                <a:latin typeface="Calibri"/>
              </a:rPr>
              <a:t>StateGraph de LangGraph</a:t>
            </a:r>
            <a:r>
              <a:rPr sz="1300" b="0">
                <a:solidFill>
                  <a:srgbClr val="1F2937"/>
                </a:solidFill>
                <a:latin typeface="Calibri"/>
              </a:rPr>
              <a:t> con su propio flujo de control. El Orchestrator clasifica la intención del usuario y enruta al agente correcto (o planifica tareas compuestas).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Orchestrator — enrutamiento y plan-execute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pic>
        <p:nvPicPr>
          <p:cNvPr id="8" name="Picture 7" descr="graph_orchest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79" y="1417320"/>
            <a:ext cx="3063161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0" y="1554480"/>
            <a:ext cx="5440680" cy="448056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Qué hace el grafo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b="1" sz="1350">
                <a:solidFill>
                  <a:srgbClr val="1F2937"/>
                </a:solidFill>
              </a:rPr>
              <a:t>classify_intent
</a:t>
            </a:r>
            <a:r>
              <a:rPr sz="1200">
                <a:solidFill>
                  <a:srgbClr val="6B7280"/>
                </a:solidFill>
              </a:rPr>
              <a:t>detecta la intención (ingest, examen, ejercicio, evaluar, perfil, compuesto)</a:t>
            </a:r>
          </a:p>
          <a:p>
            <a:pPr>
              <a:spcAft>
                <a:spcPts val="1100"/>
              </a:spcAft>
            </a:pPr>
            <a:r>
              <a:rPr b="1" sz="1350">
                <a:solidFill>
                  <a:srgbClr val="1F2937"/>
                </a:solidFill>
              </a:rPr>
              <a:t>route_to_agent
</a:t>
            </a:r>
            <a:r>
              <a:rPr sz="1200">
                <a:solidFill>
                  <a:srgbClr val="6B7280"/>
                </a:solidFill>
              </a:rPr>
              <a:t>arista condicional → deriva al agente adecuado</a:t>
            </a:r>
          </a:p>
          <a:p>
            <a:pPr>
              <a:spcAft>
                <a:spcPts val="1100"/>
              </a:spcAft>
            </a:pPr>
            <a:r>
              <a:rPr b="1" sz="1350">
                <a:solidFill>
                  <a:srgbClr val="1F2937"/>
                </a:solidFill>
              </a:rPr>
              <a:t>plan_composite
</a:t>
            </a:r>
            <a:r>
              <a:rPr sz="1200">
                <a:solidFill>
                  <a:srgbClr val="6B7280"/>
                </a:solidFill>
              </a:rPr>
              <a:t>descompone pedidos multi-paso en una secuencia de tools</a:t>
            </a:r>
          </a:p>
          <a:p>
            <a:pPr>
              <a:spcAft>
                <a:spcPts val="1100"/>
              </a:spcAft>
            </a:pPr>
            <a:r>
              <a:rPr b="1" sz="1350">
                <a:solidFill>
                  <a:srgbClr val="1F2937"/>
                </a:solidFill>
              </a:rPr>
              <a:t>execute_step
</a:t>
            </a:r>
            <a:r>
              <a:rPr sz="1200">
                <a:solidFill>
                  <a:srgbClr val="6B7280"/>
                </a:solidFill>
              </a:rPr>
              <a:t>ejecuta cada paso; bucle con control de iteraciones</a:t>
            </a:r>
          </a:p>
          <a:p>
            <a:pPr>
              <a:spcAft>
                <a:spcPts val="1100"/>
              </a:spcAft>
            </a:pPr>
            <a:r>
              <a:rPr b="1" sz="1350">
                <a:solidFill>
                  <a:srgbClr val="1F2937"/>
                </a:solidFill>
              </a:rPr>
              <a:t>synthesize_response
</a:t>
            </a:r>
            <a:r>
              <a:rPr sz="1200">
                <a:solidFill>
                  <a:srgbClr val="6B7280"/>
                </a:solidFill>
              </a:rPr>
              <a:t>redacta la respuesta final al estudiante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9963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Renderizado del código real en dev (LangGraph .draw_mermaid)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Ingestor · ExamGenerator · ExerciseGenerator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Ingestor</a:t>
            </a:r>
          </a:p>
        </p:txBody>
      </p:sp>
      <p:pic>
        <p:nvPicPr>
          <p:cNvPr id="9" name="Picture 8" descr="graph_inges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253" y="1828800"/>
            <a:ext cx="1540933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669280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lineal: parse → classify → chunk+embed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32588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ExamGenerator</a:t>
            </a:r>
          </a:p>
        </p:txBody>
      </p:sp>
      <p:pic>
        <p:nvPicPr>
          <p:cNvPr id="12" name="Picture 11" descr="graph_exam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374" y="1828800"/>
            <a:ext cx="1421347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70248" y="5669280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retrieve → generate → validate →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2" y="132588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ExerciseGenerator</a:t>
            </a:r>
          </a:p>
        </p:txBody>
      </p:sp>
      <p:pic>
        <p:nvPicPr>
          <p:cNvPr id="15" name="Picture 14" descr="graph_exercise_gen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6558" y="1828800"/>
            <a:ext cx="1421347" cy="36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28432" y="5669280"/>
            <a:ext cx="3657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genera ejercicios con contexto 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Evaluator y Support — ruteo condicional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Evaluator</a:t>
            </a:r>
          </a:p>
        </p:txBody>
      </p:sp>
      <p:pic>
        <p:nvPicPr>
          <p:cNvPr id="9" name="Picture 8" descr="graph_eval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138" y="1691640"/>
            <a:ext cx="1379483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6320" y="1280160"/>
            <a:ext cx="2743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Support</a:t>
            </a:r>
          </a:p>
        </p:txBody>
      </p:sp>
      <p:pic>
        <p:nvPicPr>
          <p:cNvPr id="11" name="Picture 10" descr="graph_sup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952" y="1920240"/>
            <a:ext cx="2058175" cy="3291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886200" cy="452628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737360"/>
            <a:ext cx="3474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Ingeniería de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40280"/>
            <a:ext cx="3520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300">
                <a:solidFill>
                  <a:srgbClr val="1F2937"/>
                </a:solidFill>
              </a:rPr>
              <a:t>Evaluator (8 nodos)
</a:t>
            </a:r>
            <a:r>
              <a:rPr sz="1150">
                <a:solidFill>
                  <a:srgbClr val="6B7280"/>
                </a:solidFill>
              </a:rPr>
              <a:t>ramifica según evaluabilidad y dispara un llm_judge sólo cuando hace falta validar el feedback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F2937"/>
                </a:solidFill>
              </a:rPr>
              <a:t>Anti-alucinación
</a:t>
            </a:r>
            <a:r>
              <a:rPr sz="1150">
                <a:solidFill>
                  <a:srgbClr val="6B7280"/>
                </a:solidFill>
              </a:rPr>
              <a:t>el feedback se valida contra el material antes de entregarse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F2937"/>
                </a:solidFill>
              </a:rPr>
              <a:t>Support (4 nodos)
</a:t>
            </a:r>
            <a:r>
              <a:rPr sz="1150">
                <a:solidFill>
                  <a:srgbClr val="6B7280"/>
                </a:solidFill>
              </a:rPr>
              <a:t>salta la historia de sesiones si el alumno es nuevo (arista condicional)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4/4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Traza real: generación de un examen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pic>
        <p:nvPicPr>
          <p:cNvPr id="8" name="Picture 7" descr="exam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165" y="1280160"/>
            <a:ext cx="5060149" cy="5029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1417320"/>
            <a:ext cx="3200400" cy="466344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600200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Captura real (Langfuse)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148840"/>
            <a:ext cx="2788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8B5CF6"/>
                </a:solidFill>
              </a:rPr>
              <a:t>• </a:t>
            </a:r>
            <a:r>
              <a:rPr sz="1150">
                <a:solidFill>
                  <a:srgbClr val="1F2937"/>
                </a:solidFill>
              </a:rPr>
              <a:t>Un pedido real disparó el flujo completo de extremo a extremo.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8B5CF6"/>
                </a:solidFill>
              </a:rPr>
              <a:t>• </a:t>
            </a:r>
            <a:r>
              <a:rPr sz="1150">
                <a:solidFill>
                  <a:srgbClr val="1F2937"/>
                </a:solidFill>
              </a:rPr>
              <a:t>classify_intent → plan_composite → execute_step → generate_exam.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8B5CF6"/>
                </a:solidFill>
              </a:rPr>
              <a:t>• </a:t>
            </a:r>
            <a:r>
              <a:rPr sz="1150">
                <a:solidFill>
                  <a:srgbClr val="1F2937"/>
                </a:solidFill>
              </a:rPr>
              <a:t>generate_exam abre su propio sub-grafo LangGraph.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8B5CF6"/>
                </a:solidFill>
              </a:rPr>
              <a:t>• </a:t>
            </a:r>
            <a:r>
              <a:rPr sz="1150">
                <a:solidFill>
                  <a:srgbClr val="1F2937"/>
                </a:solidFill>
              </a:rPr>
              <a:t>Adentro: retrieve_chunks → rag_retrieve (RAG real sobre ChromaDB).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8B5CF6"/>
                </a:solidFill>
              </a:rPr>
              <a:t>• </a:t>
            </a:r>
            <a:r>
              <a:rPr sz="1150">
                <a:solidFill>
                  <a:srgbClr val="1F2937"/>
                </a:solidFill>
              </a:rPr>
              <a:t>63 observaciones trazadas en esta sola corrida.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Reconstruida del export de trazas · modelo local Gemma (Ollama)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ESTADO Y 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Qué está listo y qué sigue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Tutor Académico Personal · IA 2026 · UTN Santa Fe — CIDISI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✓  EN dev — FUNCIONA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400">
                <a:solidFill>
                  <a:srgbClr val="10B981"/>
                </a:solidFill>
              </a:rPr>
              <a:t>✓  </a:t>
            </a:r>
            <a:r>
              <a:rPr sz="1350">
                <a:solidFill>
                  <a:srgbClr val="1F2937"/>
                </a:solidFill>
              </a:rPr>
              <a:t>6 agentes en LangGraph, cada uno con su grafo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10B981"/>
                </a:solidFill>
              </a:rPr>
              <a:t>✓  </a:t>
            </a:r>
            <a:r>
              <a:rPr sz="1350">
                <a:solidFill>
                  <a:srgbClr val="1F2937"/>
                </a:solidFill>
              </a:rPr>
              <a:t>Orquestación hub-and-spoke + RAG sobre ChromaDB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10B981"/>
                </a:solidFill>
              </a:rPr>
              <a:t>✓  </a:t>
            </a:r>
            <a:r>
              <a:rPr sz="1350">
                <a:solidFill>
                  <a:srgbClr val="1F2937"/>
                </a:solidFill>
              </a:rPr>
              <a:t>Memoria SQLite + API FastAPI + UI Next.js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10B981"/>
                </a:solidFill>
              </a:rPr>
              <a:t>✓  </a:t>
            </a:r>
            <a:r>
              <a:rPr sz="1350">
                <a:solidFill>
                  <a:srgbClr val="1F2937"/>
                </a:solidFill>
              </a:rPr>
              <a:t>Refactor de arquitectura (épica 10)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▣  EN PROGRESO / SIGUE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400">
                <a:solidFill>
                  <a:srgbClr val="F59E0B"/>
                </a:solidFill>
              </a:rPr>
              <a:t>○  </a:t>
            </a:r>
            <a:r>
              <a:rPr sz="1350">
                <a:solidFill>
                  <a:srgbClr val="1F2937"/>
                </a:solidFill>
              </a:rPr>
              <a:t>Épica 08 · Observabilidad: integrar Langfuse a dev (hoy en su rama)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F59E0B"/>
                </a:solidFill>
              </a:rPr>
              <a:t>○  </a:t>
            </a:r>
            <a:r>
              <a:rPr sz="1350">
                <a:solidFill>
                  <a:srgbClr val="1F2937"/>
                </a:solidFill>
              </a:rPr>
              <a:t>Épica 09 · Profile bootstrap: cerrar el gap de carga de perfil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F59E0B"/>
                </a:solidFill>
              </a:rPr>
              <a:t>○  </a:t>
            </a:r>
            <a:r>
              <a:rPr sz="1350">
                <a:solidFill>
                  <a:srgbClr val="1F2937"/>
                </a:solidFill>
              </a:rPr>
              <a:t>OCR de matemática (fórmulas → LaTeX)</a:t>
            </a:r>
          </a:p>
          <a:p>
            <a:pPr>
              <a:spcAft>
                <a:spcPts val="1300"/>
              </a:spcAft>
            </a:pPr>
            <a:r>
              <a:rPr b="1" sz="1400">
                <a:solidFill>
                  <a:srgbClr val="F59E0B"/>
                </a:solidFill>
              </a:rPr>
              <a:t>○  </a:t>
            </a:r>
            <a:r>
              <a:rPr sz="1350">
                <a:solidFill>
                  <a:srgbClr val="1F2937"/>
                </a:solidFill>
              </a:rPr>
              <a:t>Coloquio y demo en vivo · entrega final 29/06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Las trazas que mostramos se generaron ejecutando la rama de observabilidad; el próximo paso es integrarla a dev.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737360" cy="635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Seis agentes que ejecutan de verdad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C4B5FD"/>
                </a:solidFill>
                <a:latin typeface="Calibri"/>
              </a:rPr>
              <a:t>Grafos reales del código · una traza real de punta a punta · estado honesto por épica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8B5CF6"/>
                </a:solidFill>
                <a:latin typeface="Calibri"/>
              </a:rPr>
              <a:t>¿Pasamos a la demo en vivo?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9CA3AF"/>
                </a:solidFill>
                <a:latin typeface="Calibri"/>
              </a:rPr>
              <a:t>Tutor Académico Personal · IA 2026 · UTN Santa Fe — CIDISI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