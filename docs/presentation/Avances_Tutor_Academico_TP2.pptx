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737360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2743200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ENTREGA 2 · AVANCES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12801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000" b="1">
                <a:solidFill>
                  <a:srgbClr val="FFFFFF"/>
                </a:solidFill>
                <a:latin typeface="Calibri"/>
              </a:rPr>
              <a:t>Tutor Académico Personal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5156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0">
                <a:solidFill>
                  <a:srgbClr val="8B5CF6"/>
                </a:solidFill>
                <a:latin typeface="Calibri Light"/>
              </a:rPr>
              <a:t>Avances de implementación — agentes en ejecución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1051560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C4B5FD"/>
                </a:solidFill>
                <a:latin typeface="Calibri"/>
              </a:rPr>
              <a:t>Grafos</a:t>
            </a:r>
            <a:r>
              <a:rPr sz="1600" b="0" dirty="0">
                <a:solidFill>
                  <a:srgbClr val="C4B5FD"/>
                </a:solidFill>
                <a:latin typeface="Calibri"/>
              </a:rPr>
              <a:t> reales de </a:t>
            </a:r>
            <a:r>
              <a:rPr sz="1600" b="0" dirty="0" err="1">
                <a:solidFill>
                  <a:srgbClr val="C4B5FD"/>
                </a:solidFill>
                <a:latin typeface="Calibri"/>
              </a:rPr>
              <a:t>cada</a:t>
            </a:r>
            <a:r>
              <a:rPr sz="1600" b="0" dirty="0">
                <a:solidFill>
                  <a:srgbClr val="C4B5FD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C4B5FD"/>
                </a:solidFill>
                <a:latin typeface="Calibri"/>
              </a:rPr>
              <a:t>agente</a:t>
            </a:r>
            <a:r>
              <a:rPr sz="1600" b="0" dirty="0">
                <a:solidFill>
                  <a:srgbClr val="C4B5FD"/>
                </a:solidFill>
                <a:latin typeface="Calibri"/>
              </a:rPr>
              <a:t> · </a:t>
            </a:r>
            <a:r>
              <a:rPr sz="1600" b="0" dirty="0" err="1">
                <a:solidFill>
                  <a:srgbClr val="C4B5FD"/>
                </a:solidFill>
                <a:latin typeface="Calibri"/>
              </a:rPr>
              <a:t>traza</a:t>
            </a:r>
            <a:r>
              <a:rPr sz="1600" b="0" dirty="0">
                <a:solidFill>
                  <a:srgbClr val="C4B5FD"/>
                </a:solidFill>
                <a:latin typeface="Calibri"/>
              </a:rPr>
              <a:t> real de </a:t>
            </a:r>
            <a:r>
              <a:rPr lang="en-US" sz="1600" b="0" dirty="0" err="1">
                <a:solidFill>
                  <a:srgbClr val="C4B5FD"/>
                </a:solidFill>
                <a:latin typeface="Calibri"/>
              </a:rPr>
              <a:t>generación</a:t>
            </a:r>
            <a:r>
              <a:rPr sz="1600" b="0" dirty="0">
                <a:solidFill>
                  <a:srgbClr val="C4B5FD"/>
                </a:solidFill>
                <a:latin typeface="Calibri"/>
              </a:rPr>
              <a:t> de examen · </a:t>
            </a:r>
            <a:r>
              <a:rPr sz="1600" b="0" dirty="0" err="1">
                <a:solidFill>
                  <a:srgbClr val="C4B5FD"/>
                </a:solidFill>
                <a:latin typeface="Calibri"/>
              </a:rPr>
              <a:t>estado</a:t>
            </a:r>
            <a:r>
              <a:rPr sz="1600" b="0" dirty="0">
                <a:solidFill>
                  <a:srgbClr val="C4B5FD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C4B5FD"/>
                </a:solidFill>
                <a:latin typeface="Calibri"/>
              </a:rPr>
              <a:t>por</a:t>
            </a:r>
            <a:r>
              <a:rPr sz="1600" b="0" dirty="0">
                <a:solidFill>
                  <a:srgbClr val="C4B5FD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C4B5FD"/>
                </a:solidFill>
                <a:latin typeface="Calibri"/>
              </a:rPr>
              <a:t>épica</a:t>
            </a:r>
            <a:endParaRPr sz="1600" b="0" dirty="0">
              <a:solidFill>
                <a:srgbClr val="C4B5FD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897880"/>
            <a:ext cx="105156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dirty="0" err="1">
                <a:solidFill>
                  <a:srgbClr val="9CA3AF"/>
                </a:solidFill>
                <a:latin typeface="Calibri"/>
              </a:rPr>
              <a:t>Trabajo</a:t>
            </a:r>
            <a:r>
              <a:rPr sz="1400" b="0" dirty="0">
                <a:solidFill>
                  <a:srgbClr val="9CA3AF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9CA3AF"/>
                </a:solidFill>
                <a:latin typeface="Calibri"/>
              </a:rPr>
              <a:t>Práctico</a:t>
            </a:r>
            <a:r>
              <a:rPr sz="1400" b="0" dirty="0">
                <a:solidFill>
                  <a:srgbClr val="9CA3AF"/>
                </a:solidFill>
                <a:latin typeface="Calibri"/>
              </a:rPr>
              <a:t> N°2  ·  </a:t>
            </a:r>
            <a:r>
              <a:rPr sz="1400" b="0" dirty="0" err="1">
                <a:solidFill>
                  <a:srgbClr val="9CA3AF"/>
                </a:solidFill>
                <a:latin typeface="Calibri"/>
              </a:rPr>
              <a:t>Inteligencia</a:t>
            </a:r>
            <a:r>
              <a:rPr sz="1400" b="0" dirty="0">
                <a:solidFill>
                  <a:srgbClr val="9CA3AF"/>
                </a:solidFill>
                <a:latin typeface="Calibri"/>
              </a:rPr>
              <a:t> Artificial 2026  ·  UTN Santa 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8B5CF6"/>
                </a:solidFill>
                <a:latin typeface="Calibri"/>
              </a:rPr>
              <a:t>CÓMO AVANZAMOS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607040" cy="6035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Una épica por rama, integradas a dev por 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84048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83096"/>
            <a:ext cx="8229600" cy="1641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dirty="0">
                <a:solidFill>
                  <a:srgbClr val="6B7280"/>
                </a:solidFill>
                <a:latin typeface="Calibri"/>
              </a:rPr>
              <a:t>Tutor </a:t>
            </a:r>
            <a:r>
              <a:rPr sz="900" b="0" dirty="0" err="1">
                <a:solidFill>
                  <a:srgbClr val="6B7280"/>
                </a:solidFill>
                <a:latin typeface="Calibri"/>
              </a:rPr>
              <a:t>Académico</a:t>
            </a:r>
            <a:r>
              <a:rPr sz="900" b="0" dirty="0">
                <a:solidFill>
                  <a:srgbClr val="6B7280"/>
                </a:solidFill>
                <a:latin typeface="Calibri"/>
              </a:rPr>
              <a:t> Personal · IA 2026 · UTN Santa 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1F2937"/>
                </a:solidFill>
                <a:latin typeface="Calibri"/>
              </a:rPr>
              <a:t>Cada </a:t>
            </a:r>
            <a:r>
              <a:rPr sz="1400" b="0" dirty="0" err="1">
                <a:solidFill>
                  <a:srgbClr val="1F2937"/>
                </a:solidFill>
                <a:latin typeface="Calibri"/>
              </a:rPr>
              <a:t>épica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 se </a:t>
            </a:r>
            <a:r>
              <a:rPr sz="1400" b="0" dirty="0" err="1">
                <a:solidFill>
                  <a:srgbClr val="1F2937"/>
                </a:solidFill>
                <a:latin typeface="Calibri"/>
              </a:rPr>
              <a:t>desarrolló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F2937"/>
                </a:solidFill>
                <a:latin typeface="Calibri"/>
              </a:rPr>
              <a:t>en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F2937"/>
                </a:solidFill>
                <a:latin typeface="Calibri"/>
              </a:rPr>
              <a:t>su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F2937"/>
                </a:solidFill>
                <a:latin typeface="Calibri"/>
              </a:rPr>
              <a:t>rama</a:t>
            </a:r>
            <a:r>
              <a:rPr sz="14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400" b="1" dirty="0">
                <a:solidFill>
                  <a:srgbClr val="4F46E5"/>
                </a:solidFill>
                <a:latin typeface="Calibri"/>
              </a:rPr>
              <a:t>feat/epic-XX</a:t>
            </a:r>
            <a:endParaRPr sz="1400" b="0" dirty="0">
              <a:solidFill>
                <a:srgbClr val="1F2937"/>
              </a:solidFill>
              <a:latin typeface="Calibri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83015"/>
              </p:ext>
            </p:extLst>
          </p:nvPr>
        </p:nvGraphicFramePr>
        <p:xfrm>
          <a:off x="502920" y="182880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69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Épica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Componente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Estado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Orchestrator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✅  en dev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02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Ingestor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✅  en dev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ExamGenerator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✅  en dev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04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ExerciseGenerator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✅  en dev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Evaluator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✅  en dev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06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Support Agent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✅  en dev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UI — Next.js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📋  </a:t>
                      </a:r>
                      <a:r>
                        <a:rPr lang="en-US" dirty="0" err="1"/>
                        <a:t>Pendiente</a:t>
                      </a:r>
                      <a:endParaRPr lang="en-US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Refactor de arquitectura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✅  en dev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Observabilidad (Langfuse)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⏳  feat/epic-08 · en progreso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70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09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Profile bootstrap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rPr dirty="0"/>
                        <a:t>📋  </a:t>
                      </a:r>
                      <a:r>
                        <a:rPr lang="en-US" dirty="0" err="1"/>
                        <a:t>Pendiente</a:t>
                      </a:r>
                      <a:endParaRPr dirty="0"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8B5CF6"/>
                </a:solidFill>
                <a:latin typeface="Calibri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607040" cy="6035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Orquestador + 5 agentes especializados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84048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83096"/>
            <a:ext cx="8229600" cy="1641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dirty="0">
                <a:solidFill>
                  <a:srgbClr val="6B7280"/>
                </a:solidFill>
                <a:latin typeface="Calibri"/>
              </a:rPr>
              <a:t>Tutor </a:t>
            </a:r>
            <a:r>
              <a:rPr sz="900" b="0" dirty="0" err="1">
                <a:solidFill>
                  <a:srgbClr val="6B7280"/>
                </a:solidFill>
                <a:latin typeface="Calibri"/>
              </a:rPr>
              <a:t>Académico</a:t>
            </a:r>
            <a:r>
              <a:rPr sz="900" b="0" dirty="0">
                <a:solidFill>
                  <a:srgbClr val="6B7280"/>
                </a:solidFill>
                <a:latin typeface="Calibri"/>
              </a:rPr>
              <a:t> Personal · IA 2026 · UTN Santa 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828800"/>
            <a:ext cx="2468880" cy="10058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1828800"/>
            <a:ext cx="2468880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Orchestrator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C4B5FD"/>
                </a:solidFill>
                <a:latin typeface="Calibri"/>
              </a:rPr>
              <a:t>Plan-and-Execute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C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657600"/>
            <a:ext cx="2103120" cy="1097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9202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Ingestor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07408"/>
            <a:ext cx="1920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ingiere material → RAG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2834640"/>
            <a:ext cx="25400" cy="822960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26080" y="365760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C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26080" y="3657600"/>
            <a:ext cx="2103120" cy="1097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17520" y="3931920"/>
            <a:ext cx="19202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ExamGenerator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407408"/>
            <a:ext cx="1920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exámenes MCQ + abiertas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2834640"/>
            <a:ext cx="25400" cy="822960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212080" y="365760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C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212080" y="3657600"/>
            <a:ext cx="2103120" cy="1097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0" y="3931920"/>
            <a:ext cx="19202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ExerciseGenerator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407408"/>
            <a:ext cx="1920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ejercicios prácticos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834640"/>
            <a:ext cx="25400" cy="822960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98079" y="365760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C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79" y="3657600"/>
            <a:ext cx="2103120" cy="1097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19" y="3931920"/>
            <a:ext cx="19202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Evaluator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4407408"/>
            <a:ext cx="1920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corrige + feedback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199" y="2834640"/>
            <a:ext cx="25400" cy="822960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784080" y="365760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C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784080" y="3657600"/>
            <a:ext cx="2103120" cy="1097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75520" y="3931920"/>
            <a:ext cx="19202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4407408"/>
            <a:ext cx="1920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perfil y progreso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44200" y="2834640"/>
            <a:ext cx="25400" cy="822960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5532120"/>
            <a:ext cx="1115568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dirty="0">
                <a:solidFill>
                  <a:srgbClr val="1F2937"/>
                </a:solidFill>
                <a:latin typeface="Calibri"/>
              </a:rPr>
              <a:t>Cada </a:t>
            </a:r>
            <a:r>
              <a:rPr sz="1300" b="0" dirty="0" err="1">
                <a:solidFill>
                  <a:srgbClr val="1F2937"/>
                </a:solidFill>
                <a:latin typeface="Calibri"/>
              </a:rPr>
              <a:t>agente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 es un </a:t>
            </a:r>
            <a:r>
              <a:rPr sz="1300" b="1" dirty="0" err="1">
                <a:solidFill>
                  <a:srgbClr val="6D28D9"/>
                </a:solidFill>
                <a:latin typeface="Calibri"/>
              </a:rPr>
              <a:t>StateGraph</a:t>
            </a:r>
            <a:r>
              <a:rPr sz="1300" b="1" dirty="0">
                <a:solidFill>
                  <a:srgbClr val="6D28D9"/>
                </a:solidFill>
                <a:latin typeface="Calibri"/>
              </a:rPr>
              <a:t> de </a:t>
            </a:r>
            <a:r>
              <a:rPr sz="1300" b="1" dirty="0" err="1">
                <a:solidFill>
                  <a:srgbClr val="6D28D9"/>
                </a:solidFill>
                <a:latin typeface="Calibri"/>
              </a:rPr>
              <a:t>LangGraph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 con </a:t>
            </a:r>
            <a:r>
              <a:rPr sz="1300" b="0" dirty="0" err="1">
                <a:solidFill>
                  <a:srgbClr val="1F2937"/>
                </a:solidFill>
                <a:latin typeface="Calibri"/>
              </a:rPr>
              <a:t>su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Calibri"/>
              </a:rPr>
              <a:t>propio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Calibri"/>
              </a:rPr>
              <a:t>flujo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 de control. El Orchestrator </a:t>
            </a:r>
            <a:r>
              <a:rPr sz="1300" b="0" dirty="0" err="1">
                <a:solidFill>
                  <a:srgbClr val="1F2937"/>
                </a:solidFill>
                <a:latin typeface="Calibri"/>
              </a:rPr>
              <a:t>clasifica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 la </a:t>
            </a:r>
            <a:r>
              <a:rPr sz="1300" b="0" dirty="0" err="1">
                <a:solidFill>
                  <a:srgbClr val="1F2937"/>
                </a:solidFill>
                <a:latin typeface="Calibri"/>
              </a:rPr>
              <a:t>intención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 del </a:t>
            </a:r>
            <a:r>
              <a:rPr sz="1300" b="0" dirty="0" err="1">
                <a:solidFill>
                  <a:srgbClr val="1F2937"/>
                </a:solidFill>
                <a:latin typeface="Calibri"/>
              </a:rPr>
              <a:t>usuario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 y </a:t>
            </a:r>
            <a:r>
              <a:rPr sz="1300" b="0" dirty="0" err="1">
                <a:solidFill>
                  <a:srgbClr val="1F2937"/>
                </a:solidFill>
                <a:latin typeface="Calibri"/>
              </a:rPr>
              <a:t>enruta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 al </a:t>
            </a:r>
            <a:r>
              <a:rPr sz="1300" b="0" dirty="0" err="1">
                <a:solidFill>
                  <a:srgbClr val="1F2937"/>
                </a:solidFill>
                <a:latin typeface="Calibri"/>
              </a:rPr>
              <a:t>agente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Calibri"/>
              </a:rPr>
              <a:t>correcto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 (o </a:t>
            </a:r>
            <a:r>
              <a:rPr sz="1300" b="0" dirty="0" err="1">
                <a:solidFill>
                  <a:srgbClr val="1F2937"/>
                </a:solidFill>
                <a:latin typeface="Calibri"/>
              </a:rPr>
              <a:t>planifica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Calibri"/>
              </a:rPr>
              <a:t>tareas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Calibri"/>
              </a:rPr>
              <a:t>compuestas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).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F01C99F-6F9A-A24C-E22A-8A9D98A0693D}"/>
              </a:ext>
            </a:extLst>
          </p:cNvPr>
          <p:cNvSpPr/>
          <p:nvPr/>
        </p:nvSpPr>
        <p:spPr>
          <a:xfrm rot="5400000">
            <a:off x="6159499" y="-1753745"/>
            <a:ext cx="50800" cy="9169403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8B5CF6"/>
                </a:solidFill>
                <a:latin typeface="Calibri"/>
              </a:rPr>
              <a:t>GRAFO REAL ·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607040" cy="6035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Orchestrator — enrutamiento y plan-execute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84048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83096"/>
            <a:ext cx="8229600" cy="1641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dirty="0">
                <a:solidFill>
                  <a:srgbClr val="6B7280"/>
                </a:solidFill>
                <a:latin typeface="Calibri"/>
              </a:rPr>
              <a:t>Tutor </a:t>
            </a:r>
            <a:r>
              <a:rPr sz="900" b="0" dirty="0" err="1">
                <a:solidFill>
                  <a:srgbClr val="6B7280"/>
                </a:solidFill>
                <a:latin typeface="Calibri"/>
              </a:rPr>
              <a:t>Académico</a:t>
            </a:r>
            <a:r>
              <a:rPr sz="900" b="0" dirty="0">
                <a:solidFill>
                  <a:srgbClr val="6B7280"/>
                </a:solidFill>
                <a:latin typeface="Calibri"/>
              </a:rPr>
              <a:t> Personal · IA 2026 · UTN Santa Fe</a:t>
            </a:r>
          </a:p>
        </p:txBody>
      </p:sp>
      <p:pic>
        <p:nvPicPr>
          <p:cNvPr id="8" name="Picture 7" descr="graph_orchest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79" y="1417320"/>
            <a:ext cx="3063161" cy="4754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0" y="1554480"/>
            <a:ext cx="5440680" cy="4480560"/>
          </a:xfrm>
          <a:prstGeom prst="rect">
            <a:avLst/>
          </a:prstGeom>
          <a:solidFill>
            <a:srgbClr val="F5F3FF"/>
          </a:solidFill>
          <a:ln w="12700">
            <a:solidFill>
              <a:srgbClr val="EEEC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50292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Qué hace el grafo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50" b="1">
                <a:solidFill>
                  <a:srgbClr val="1F2937"/>
                </a:solidFill>
              </a:rPr>
              <a:t>classify_intent
</a:t>
            </a:r>
            <a:r>
              <a:rPr sz="1200">
                <a:solidFill>
                  <a:srgbClr val="6B7280"/>
                </a:solidFill>
              </a:rPr>
              <a:t>detecta la intención (ingest, examen, ejercicio, evaluar, perfil, compuesto)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1F2937"/>
                </a:solidFill>
              </a:rPr>
              <a:t>route_to_agent
</a:t>
            </a:r>
            <a:r>
              <a:rPr sz="1200">
                <a:solidFill>
                  <a:srgbClr val="6B7280"/>
                </a:solidFill>
              </a:rPr>
              <a:t>arista condicional → deriva al agente adecuado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1F2937"/>
                </a:solidFill>
              </a:rPr>
              <a:t>plan_composite
</a:t>
            </a:r>
            <a:r>
              <a:rPr sz="1200">
                <a:solidFill>
                  <a:srgbClr val="6B7280"/>
                </a:solidFill>
              </a:rPr>
              <a:t>descompone pedidos multi-paso en una secuencia de tools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1F2937"/>
                </a:solidFill>
              </a:rPr>
              <a:t>execute_step
</a:t>
            </a:r>
            <a:r>
              <a:rPr sz="1200">
                <a:solidFill>
                  <a:srgbClr val="6B7280"/>
                </a:solidFill>
              </a:rPr>
              <a:t>ejecuta cada paso; bucle con control de iteraciones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1F2937"/>
                </a:solidFill>
              </a:rPr>
              <a:t>synthesize_response
</a:t>
            </a:r>
            <a:r>
              <a:rPr sz="1200">
                <a:solidFill>
                  <a:srgbClr val="6B7280"/>
                </a:solidFill>
              </a:rPr>
              <a:t>redacta la respuesta final al estudiante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8B5CF6"/>
                </a:solidFill>
                <a:latin typeface="Calibri"/>
              </a:rPr>
              <a:t>GRAFO REAL ·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607040" cy="6035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Ingestor · ExamGenerator · ExerciseGenerator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84048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83096"/>
            <a:ext cx="8229600" cy="1641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dirty="0">
                <a:solidFill>
                  <a:srgbClr val="6B7280"/>
                </a:solidFill>
                <a:latin typeface="Calibri"/>
              </a:rPr>
              <a:t>Tutor </a:t>
            </a:r>
            <a:r>
              <a:rPr sz="900" b="0" dirty="0" err="1">
                <a:solidFill>
                  <a:srgbClr val="6B7280"/>
                </a:solidFill>
                <a:latin typeface="Calibri"/>
              </a:rPr>
              <a:t>Académico</a:t>
            </a:r>
            <a:r>
              <a:rPr sz="900" b="0" dirty="0">
                <a:solidFill>
                  <a:srgbClr val="6B7280"/>
                </a:solidFill>
                <a:latin typeface="Calibri"/>
              </a:rPr>
              <a:t> Personal · IA 2026 · UTN Santa Fe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3657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Ingestor</a:t>
            </a:r>
          </a:p>
        </p:txBody>
      </p:sp>
      <p:pic>
        <p:nvPicPr>
          <p:cNvPr id="9" name="Picture 8" descr="graph_inges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253" y="1828800"/>
            <a:ext cx="1540933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669280"/>
            <a:ext cx="36576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lineal: parse → classify → chunk+embed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1325880"/>
            <a:ext cx="3657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ExamGenerator</a:t>
            </a:r>
          </a:p>
        </p:txBody>
      </p:sp>
      <p:pic>
        <p:nvPicPr>
          <p:cNvPr id="12" name="Picture 11" descr="graph_exam_gener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374" y="1828800"/>
            <a:ext cx="1421347" cy="3657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70248" y="5669280"/>
            <a:ext cx="36576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retrieve → generate → validate → 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2" y="1325880"/>
            <a:ext cx="3657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ExerciseGenerator</a:t>
            </a:r>
          </a:p>
        </p:txBody>
      </p:sp>
      <p:pic>
        <p:nvPicPr>
          <p:cNvPr id="15" name="Picture 14" descr="graph_exercise_gener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6558" y="1828800"/>
            <a:ext cx="1421347" cy="3657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432" y="5669280"/>
            <a:ext cx="36576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genera ejercicios con contexto RAG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8B5CF6"/>
                </a:solidFill>
                <a:latin typeface="Calibri"/>
              </a:rPr>
              <a:t>GRAFO REAL ·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607040" cy="6035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Evaluator y Support — ruteo condicional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84048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83096"/>
            <a:ext cx="8229600" cy="1641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dirty="0">
                <a:solidFill>
                  <a:srgbClr val="6B7280"/>
                </a:solidFill>
                <a:latin typeface="Calibri"/>
              </a:rPr>
              <a:t>Tutor </a:t>
            </a:r>
            <a:r>
              <a:rPr sz="900" b="0" dirty="0" err="1">
                <a:solidFill>
                  <a:srgbClr val="6B7280"/>
                </a:solidFill>
                <a:latin typeface="Calibri"/>
              </a:rPr>
              <a:t>Académico</a:t>
            </a:r>
            <a:r>
              <a:rPr sz="900" b="0" dirty="0">
                <a:solidFill>
                  <a:srgbClr val="6B7280"/>
                </a:solidFill>
                <a:latin typeface="Calibri"/>
              </a:rPr>
              <a:t> Personal · IA 2026 · UTN Santa 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42062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Evaluator</a:t>
            </a:r>
          </a:p>
        </p:txBody>
      </p:sp>
      <p:pic>
        <p:nvPicPr>
          <p:cNvPr id="9" name="Picture 8" descr="graph_evalu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138" y="1691640"/>
            <a:ext cx="1379483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46320" y="1280160"/>
            <a:ext cx="2743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Support</a:t>
            </a:r>
          </a:p>
        </p:txBody>
      </p:sp>
      <p:pic>
        <p:nvPicPr>
          <p:cNvPr id="11" name="Picture 10" descr="graph_sup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952" y="1920240"/>
            <a:ext cx="2058175" cy="32918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818120" y="1554480"/>
            <a:ext cx="3886200" cy="4526280"/>
          </a:xfrm>
          <a:prstGeom prst="rect">
            <a:avLst/>
          </a:prstGeom>
          <a:solidFill>
            <a:srgbClr val="F5F3FF"/>
          </a:solidFill>
          <a:ln w="12700">
            <a:solidFill>
              <a:srgbClr val="EEEC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1737360"/>
            <a:ext cx="3474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6D28D9"/>
                </a:solidFill>
                <a:latin typeface="Calibri"/>
              </a:rPr>
              <a:t>Ingeniería de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240280"/>
            <a:ext cx="3520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</a:rPr>
              <a:t>Evaluator (8 nodos)
</a:t>
            </a:r>
            <a:r>
              <a:rPr sz="1150">
                <a:solidFill>
                  <a:srgbClr val="6B7280"/>
                </a:solidFill>
              </a:rPr>
              <a:t>ramifica según evaluabilidad y dispara un llm_judge sólo cuando hace falta validar el feedback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</a:rPr>
              <a:t>Anti-alucinación
</a:t>
            </a:r>
            <a:r>
              <a:rPr sz="1150">
                <a:solidFill>
                  <a:srgbClr val="6B7280"/>
                </a:solidFill>
              </a:rPr>
              <a:t>el feedback se valida contra el material antes de entregarse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</a:rPr>
              <a:t>Support (4 nodos)
</a:t>
            </a:r>
            <a:r>
              <a:rPr sz="1150">
                <a:solidFill>
                  <a:srgbClr val="6B7280"/>
                </a:solidFill>
              </a:rPr>
              <a:t>salta la historia de sesiones si el alumno es nuevo (arista condicional)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8B5CF6"/>
                </a:solidFill>
                <a:latin typeface="Calibri"/>
              </a:rPr>
              <a:t>GRAFO REAL · 4/4 · EJECUCIÓN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607040" cy="6035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Traza real: generación de un examen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84048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83096"/>
            <a:ext cx="8229600" cy="1641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dirty="0">
                <a:solidFill>
                  <a:srgbClr val="6B7280"/>
                </a:solidFill>
                <a:latin typeface="Calibri"/>
              </a:rPr>
              <a:t>Tutor </a:t>
            </a:r>
            <a:r>
              <a:rPr sz="900" b="0" dirty="0" err="1">
                <a:solidFill>
                  <a:srgbClr val="6B7280"/>
                </a:solidFill>
                <a:latin typeface="Calibri"/>
              </a:rPr>
              <a:t>Académico</a:t>
            </a:r>
            <a:r>
              <a:rPr sz="900" b="0" dirty="0">
                <a:solidFill>
                  <a:srgbClr val="6B7280"/>
                </a:solidFill>
                <a:latin typeface="Calibri"/>
              </a:rPr>
              <a:t> Personal · IA 2026 · UTN Santa Fe</a:t>
            </a:r>
          </a:p>
        </p:txBody>
      </p:sp>
      <p:pic>
        <p:nvPicPr>
          <p:cNvPr id="8" name="Picture 7" descr="exam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165" y="1280160"/>
            <a:ext cx="5060149" cy="5029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03920" y="1417320"/>
            <a:ext cx="3200400" cy="4663440"/>
          </a:xfrm>
          <a:prstGeom prst="rect">
            <a:avLst/>
          </a:prstGeom>
          <a:solidFill>
            <a:srgbClr val="F5F3FF"/>
          </a:solidFill>
          <a:ln w="12700">
            <a:solidFill>
              <a:srgbClr val="EEEC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32520" y="1600200"/>
            <a:ext cx="28346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6D28D9"/>
                </a:solidFill>
                <a:latin typeface="Calibri"/>
              </a:rPr>
              <a:t>Captura real (Langfuse)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148840"/>
            <a:ext cx="278892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 dirty="0">
                <a:solidFill>
                  <a:srgbClr val="8B5CF6"/>
                </a:solidFill>
              </a:rPr>
              <a:t>• </a:t>
            </a:r>
            <a:r>
              <a:rPr sz="1150" dirty="0">
                <a:solidFill>
                  <a:srgbClr val="1F2937"/>
                </a:solidFill>
              </a:rPr>
              <a:t>Un </a:t>
            </a:r>
            <a:r>
              <a:rPr sz="1150" dirty="0" err="1">
                <a:solidFill>
                  <a:srgbClr val="1F2937"/>
                </a:solidFill>
              </a:rPr>
              <a:t>pedido</a:t>
            </a:r>
            <a:r>
              <a:rPr sz="1150" dirty="0">
                <a:solidFill>
                  <a:srgbClr val="1F2937"/>
                </a:solidFill>
              </a:rPr>
              <a:t> real </a:t>
            </a:r>
            <a:r>
              <a:rPr sz="1150" dirty="0" err="1">
                <a:solidFill>
                  <a:srgbClr val="1F2937"/>
                </a:solidFill>
              </a:rPr>
              <a:t>disparó</a:t>
            </a:r>
            <a:r>
              <a:rPr sz="1150" dirty="0">
                <a:solidFill>
                  <a:srgbClr val="1F2937"/>
                </a:solidFill>
              </a:rPr>
              <a:t> </a:t>
            </a:r>
            <a:r>
              <a:rPr sz="1150" dirty="0" err="1">
                <a:solidFill>
                  <a:srgbClr val="1F2937"/>
                </a:solidFill>
              </a:rPr>
              <a:t>el</a:t>
            </a:r>
            <a:r>
              <a:rPr sz="1150" dirty="0">
                <a:solidFill>
                  <a:srgbClr val="1F2937"/>
                </a:solidFill>
              </a:rPr>
              <a:t> </a:t>
            </a:r>
            <a:r>
              <a:rPr sz="1150" dirty="0" err="1">
                <a:solidFill>
                  <a:srgbClr val="1F2937"/>
                </a:solidFill>
              </a:rPr>
              <a:t>flujo</a:t>
            </a:r>
            <a:r>
              <a:rPr sz="1150" dirty="0">
                <a:solidFill>
                  <a:srgbClr val="1F2937"/>
                </a:solidFill>
              </a:rPr>
              <a:t> </a:t>
            </a:r>
            <a:r>
              <a:rPr sz="1150" dirty="0" err="1">
                <a:solidFill>
                  <a:srgbClr val="1F2937"/>
                </a:solidFill>
              </a:rPr>
              <a:t>completo</a:t>
            </a:r>
            <a:r>
              <a:rPr sz="1150" dirty="0">
                <a:solidFill>
                  <a:srgbClr val="1F2937"/>
                </a:solidFill>
              </a:rPr>
              <a:t> de extremo a extremo.</a:t>
            </a:r>
          </a:p>
          <a:p>
            <a:pPr>
              <a:spcAft>
                <a:spcPts val="1000"/>
              </a:spcAft>
            </a:pPr>
            <a:r>
              <a:rPr sz="1200" b="1" dirty="0">
                <a:solidFill>
                  <a:srgbClr val="8B5CF6"/>
                </a:solidFill>
              </a:rPr>
              <a:t>• </a:t>
            </a:r>
            <a:r>
              <a:rPr sz="1150" dirty="0" err="1">
                <a:solidFill>
                  <a:srgbClr val="1F2937"/>
                </a:solidFill>
              </a:rPr>
              <a:t>classify_intent</a:t>
            </a:r>
            <a:r>
              <a:rPr sz="1150" dirty="0">
                <a:solidFill>
                  <a:srgbClr val="1F2937"/>
                </a:solidFill>
              </a:rPr>
              <a:t> → </a:t>
            </a:r>
            <a:r>
              <a:rPr sz="1150" dirty="0" err="1">
                <a:solidFill>
                  <a:srgbClr val="1F2937"/>
                </a:solidFill>
              </a:rPr>
              <a:t>plan_composite</a:t>
            </a:r>
            <a:r>
              <a:rPr sz="1150" dirty="0">
                <a:solidFill>
                  <a:srgbClr val="1F2937"/>
                </a:solidFill>
              </a:rPr>
              <a:t> → </a:t>
            </a:r>
            <a:r>
              <a:rPr sz="1150" dirty="0" err="1">
                <a:solidFill>
                  <a:srgbClr val="1F2937"/>
                </a:solidFill>
              </a:rPr>
              <a:t>execute_step</a:t>
            </a:r>
            <a:r>
              <a:rPr sz="1150" dirty="0">
                <a:solidFill>
                  <a:srgbClr val="1F2937"/>
                </a:solidFill>
              </a:rPr>
              <a:t> → </a:t>
            </a:r>
            <a:r>
              <a:rPr sz="1150" dirty="0" err="1">
                <a:solidFill>
                  <a:srgbClr val="1F2937"/>
                </a:solidFill>
              </a:rPr>
              <a:t>generate_exam</a:t>
            </a:r>
            <a:r>
              <a:rPr sz="1150" dirty="0">
                <a:solidFill>
                  <a:srgbClr val="1F2937"/>
                </a:solidFill>
              </a:rPr>
              <a:t>.</a:t>
            </a:r>
          </a:p>
          <a:p>
            <a:pPr>
              <a:spcAft>
                <a:spcPts val="1000"/>
              </a:spcAft>
            </a:pPr>
            <a:r>
              <a:rPr sz="1200" b="1" dirty="0">
                <a:solidFill>
                  <a:srgbClr val="8B5CF6"/>
                </a:solidFill>
              </a:rPr>
              <a:t>• </a:t>
            </a:r>
            <a:r>
              <a:rPr sz="1150" dirty="0" err="1">
                <a:solidFill>
                  <a:srgbClr val="1F2937"/>
                </a:solidFill>
              </a:rPr>
              <a:t>generate_exam</a:t>
            </a:r>
            <a:r>
              <a:rPr sz="1150" dirty="0">
                <a:solidFill>
                  <a:srgbClr val="1F2937"/>
                </a:solidFill>
              </a:rPr>
              <a:t> </a:t>
            </a:r>
            <a:r>
              <a:rPr sz="1150" dirty="0" err="1">
                <a:solidFill>
                  <a:srgbClr val="1F2937"/>
                </a:solidFill>
              </a:rPr>
              <a:t>abre</a:t>
            </a:r>
            <a:r>
              <a:rPr sz="1150" dirty="0">
                <a:solidFill>
                  <a:srgbClr val="1F2937"/>
                </a:solidFill>
              </a:rPr>
              <a:t> </a:t>
            </a:r>
            <a:r>
              <a:rPr sz="1150" dirty="0" err="1">
                <a:solidFill>
                  <a:srgbClr val="1F2937"/>
                </a:solidFill>
              </a:rPr>
              <a:t>su</a:t>
            </a:r>
            <a:r>
              <a:rPr sz="1150" dirty="0">
                <a:solidFill>
                  <a:srgbClr val="1F2937"/>
                </a:solidFill>
              </a:rPr>
              <a:t> </a:t>
            </a:r>
            <a:r>
              <a:rPr sz="1150" dirty="0" err="1">
                <a:solidFill>
                  <a:srgbClr val="1F2937"/>
                </a:solidFill>
              </a:rPr>
              <a:t>propio</a:t>
            </a:r>
            <a:r>
              <a:rPr sz="1150" dirty="0">
                <a:solidFill>
                  <a:srgbClr val="1F2937"/>
                </a:solidFill>
              </a:rPr>
              <a:t> sub-</a:t>
            </a:r>
            <a:r>
              <a:rPr sz="1150" dirty="0" err="1">
                <a:solidFill>
                  <a:srgbClr val="1F2937"/>
                </a:solidFill>
              </a:rPr>
              <a:t>grafo</a:t>
            </a:r>
            <a:r>
              <a:rPr sz="1150" dirty="0">
                <a:solidFill>
                  <a:srgbClr val="1F2937"/>
                </a:solidFill>
              </a:rPr>
              <a:t> </a:t>
            </a:r>
            <a:r>
              <a:rPr sz="1150" dirty="0" err="1">
                <a:solidFill>
                  <a:srgbClr val="1F2937"/>
                </a:solidFill>
              </a:rPr>
              <a:t>LangGraph</a:t>
            </a:r>
            <a:r>
              <a:rPr sz="1150" dirty="0">
                <a:solidFill>
                  <a:srgbClr val="1F2937"/>
                </a:solidFill>
              </a:rPr>
              <a:t>.</a:t>
            </a:r>
          </a:p>
          <a:p>
            <a:pPr>
              <a:spcAft>
                <a:spcPts val="1000"/>
              </a:spcAft>
            </a:pPr>
            <a:r>
              <a:rPr sz="1200" b="1" dirty="0">
                <a:solidFill>
                  <a:srgbClr val="8B5CF6"/>
                </a:solidFill>
              </a:rPr>
              <a:t>• </a:t>
            </a:r>
            <a:r>
              <a:rPr sz="1150" dirty="0">
                <a:solidFill>
                  <a:srgbClr val="1F2937"/>
                </a:solidFill>
              </a:rPr>
              <a:t>Adentro: </a:t>
            </a:r>
            <a:r>
              <a:rPr sz="1150" dirty="0" err="1">
                <a:solidFill>
                  <a:srgbClr val="1F2937"/>
                </a:solidFill>
              </a:rPr>
              <a:t>retrieve_chunks</a:t>
            </a:r>
            <a:r>
              <a:rPr sz="1150" dirty="0">
                <a:solidFill>
                  <a:srgbClr val="1F2937"/>
                </a:solidFill>
              </a:rPr>
              <a:t> → </a:t>
            </a:r>
            <a:r>
              <a:rPr sz="1150" dirty="0" err="1">
                <a:solidFill>
                  <a:srgbClr val="1F2937"/>
                </a:solidFill>
              </a:rPr>
              <a:t>rag_retrieve</a:t>
            </a:r>
            <a:r>
              <a:rPr sz="1150" dirty="0">
                <a:solidFill>
                  <a:srgbClr val="1F2937"/>
                </a:solidFill>
              </a:rPr>
              <a:t> (RAG real </a:t>
            </a:r>
            <a:r>
              <a:rPr sz="1150" dirty="0" err="1">
                <a:solidFill>
                  <a:srgbClr val="1F2937"/>
                </a:solidFill>
              </a:rPr>
              <a:t>sobre</a:t>
            </a:r>
            <a:r>
              <a:rPr sz="1150" dirty="0">
                <a:solidFill>
                  <a:srgbClr val="1F2937"/>
                </a:solidFill>
              </a:rPr>
              <a:t> </a:t>
            </a:r>
            <a:r>
              <a:rPr sz="1150" dirty="0" err="1">
                <a:solidFill>
                  <a:srgbClr val="1F2937"/>
                </a:solidFill>
              </a:rPr>
              <a:t>ChromaDB</a:t>
            </a:r>
            <a:r>
              <a:rPr sz="1150" dirty="0">
                <a:solidFill>
                  <a:srgbClr val="1F2937"/>
                </a:solidFill>
              </a:rPr>
              <a:t>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55080"/>
            <a:ext cx="7315200" cy="1718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dirty="0" err="1">
                <a:solidFill>
                  <a:srgbClr val="6B7280"/>
                </a:solidFill>
                <a:latin typeface="Calibri"/>
              </a:rPr>
              <a:t>Reconstruida</a:t>
            </a:r>
            <a:r>
              <a:rPr sz="950" b="0" dirty="0">
                <a:solidFill>
                  <a:srgbClr val="6B7280"/>
                </a:solidFill>
                <a:latin typeface="Calibri"/>
              </a:rPr>
              <a:t> del export de </a:t>
            </a:r>
            <a:r>
              <a:rPr sz="950" b="0" dirty="0" err="1">
                <a:solidFill>
                  <a:srgbClr val="6B7280"/>
                </a:solidFill>
                <a:latin typeface="Calibri"/>
              </a:rPr>
              <a:t>trazas</a:t>
            </a:r>
            <a:r>
              <a:rPr sz="950" b="0" dirty="0">
                <a:solidFill>
                  <a:srgbClr val="6B7280"/>
                </a:solidFill>
                <a:latin typeface="Calibri"/>
              </a:rPr>
              <a:t> · </a:t>
            </a:r>
            <a:r>
              <a:rPr sz="950" b="0" dirty="0" err="1">
                <a:solidFill>
                  <a:srgbClr val="6B7280"/>
                </a:solidFill>
                <a:latin typeface="Calibri"/>
              </a:rPr>
              <a:t>modelo</a:t>
            </a:r>
            <a:r>
              <a:rPr sz="950" b="0" dirty="0">
                <a:solidFill>
                  <a:srgbClr val="6B7280"/>
                </a:solidFill>
                <a:latin typeface="Calibri"/>
              </a:rPr>
              <a:t> local </a:t>
            </a:r>
            <a:r>
              <a:rPr lang="en-US" sz="950" dirty="0">
                <a:solidFill>
                  <a:srgbClr val="6B7280"/>
                </a:solidFill>
                <a:latin typeface="Calibri"/>
              </a:rPr>
              <a:t>gemma4:e4b-it-q8_0 </a:t>
            </a:r>
            <a:r>
              <a:rPr sz="950" b="0" dirty="0">
                <a:solidFill>
                  <a:srgbClr val="6B7280"/>
                </a:solidFill>
                <a:latin typeface="Calibri"/>
              </a:rPr>
              <a:t>(</a:t>
            </a:r>
            <a:r>
              <a:rPr sz="950" b="0" dirty="0" err="1">
                <a:solidFill>
                  <a:srgbClr val="6B7280"/>
                </a:solidFill>
                <a:latin typeface="Calibri"/>
              </a:rPr>
              <a:t>Ollama</a:t>
            </a:r>
            <a:r>
              <a:rPr sz="950" b="0" dirty="0">
                <a:solidFill>
                  <a:srgbClr val="6B7280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8B5CF6"/>
                </a:solidFill>
                <a:latin typeface="Calibri"/>
              </a:rPr>
              <a:t>ESTADO Y 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607040" cy="6035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Qué está listo y qué sigue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84048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83096"/>
            <a:ext cx="8229600" cy="1641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dirty="0">
                <a:solidFill>
                  <a:srgbClr val="6B7280"/>
                </a:solidFill>
                <a:latin typeface="Calibri"/>
              </a:rPr>
              <a:t>Tutor </a:t>
            </a:r>
            <a:r>
              <a:rPr sz="900" b="0" dirty="0" err="1">
                <a:solidFill>
                  <a:srgbClr val="6B7280"/>
                </a:solidFill>
                <a:latin typeface="Calibri"/>
              </a:rPr>
              <a:t>Académico</a:t>
            </a:r>
            <a:r>
              <a:rPr sz="900" b="0" dirty="0">
                <a:solidFill>
                  <a:srgbClr val="6B7280"/>
                </a:solidFill>
                <a:latin typeface="Calibri"/>
              </a:rPr>
              <a:t> Personal · IA 2026 · UTN Santa Fe 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C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486400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54864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✓  EN dev — FUNCIONA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4937760" cy="1072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400" b="1" dirty="0">
                <a:solidFill>
                  <a:srgbClr val="10B981"/>
                </a:solidFill>
              </a:rPr>
              <a:t>✓  </a:t>
            </a:r>
            <a:r>
              <a:rPr sz="1350" dirty="0">
                <a:solidFill>
                  <a:srgbClr val="1F2937"/>
                </a:solidFill>
              </a:rPr>
              <a:t>6 </a:t>
            </a:r>
            <a:r>
              <a:rPr sz="1350" dirty="0" err="1">
                <a:solidFill>
                  <a:srgbClr val="1F2937"/>
                </a:solidFill>
              </a:rPr>
              <a:t>agentes</a:t>
            </a:r>
            <a:r>
              <a:rPr sz="1350" dirty="0">
                <a:solidFill>
                  <a:srgbClr val="1F2937"/>
                </a:solidFill>
              </a:rPr>
              <a:t> </a:t>
            </a:r>
            <a:r>
              <a:rPr sz="1350" dirty="0" err="1">
                <a:solidFill>
                  <a:srgbClr val="1F2937"/>
                </a:solidFill>
              </a:rPr>
              <a:t>en</a:t>
            </a:r>
            <a:r>
              <a:rPr sz="1350" dirty="0">
                <a:solidFill>
                  <a:srgbClr val="1F2937"/>
                </a:solidFill>
              </a:rPr>
              <a:t> </a:t>
            </a:r>
            <a:r>
              <a:rPr sz="1350" dirty="0" err="1">
                <a:solidFill>
                  <a:srgbClr val="1F2937"/>
                </a:solidFill>
              </a:rPr>
              <a:t>LangGraph</a:t>
            </a:r>
            <a:r>
              <a:rPr sz="1350" dirty="0">
                <a:solidFill>
                  <a:srgbClr val="1F2937"/>
                </a:solidFill>
              </a:rPr>
              <a:t>, </a:t>
            </a:r>
            <a:r>
              <a:rPr sz="1350" dirty="0" err="1">
                <a:solidFill>
                  <a:srgbClr val="1F2937"/>
                </a:solidFill>
              </a:rPr>
              <a:t>cada</a:t>
            </a:r>
            <a:r>
              <a:rPr sz="1350" dirty="0">
                <a:solidFill>
                  <a:srgbClr val="1F2937"/>
                </a:solidFill>
              </a:rPr>
              <a:t> uno con </a:t>
            </a:r>
            <a:r>
              <a:rPr sz="1350" dirty="0" err="1">
                <a:solidFill>
                  <a:srgbClr val="1F2937"/>
                </a:solidFill>
              </a:rPr>
              <a:t>su</a:t>
            </a:r>
            <a:r>
              <a:rPr sz="1350" dirty="0">
                <a:solidFill>
                  <a:srgbClr val="1F2937"/>
                </a:solidFill>
              </a:rPr>
              <a:t> </a:t>
            </a:r>
            <a:r>
              <a:rPr sz="1350" dirty="0" err="1">
                <a:solidFill>
                  <a:srgbClr val="1F2937"/>
                </a:solidFill>
              </a:rPr>
              <a:t>grafo</a:t>
            </a:r>
            <a:endParaRPr sz="1350" dirty="0">
              <a:solidFill>
                <a:srgbClr val="1F2937"/>
              </a:solidFill>
            </a:endParaRPr>
          </a:p>
          <a:p>
            <a:pPr>
              <a:spcAft>
                <a:spcPts val="1300"/>
              </a:spcAft>
            </a:pPr>
            <a:r>
              <a:rPr sz="1400" b="1" dirty="0">
                <a:solidFill>
                  <a:srgbClr val="10B981"/>
                </a:solidFill>
              </a:rPr>
              <a:t>✓  </a:t>
            </a:r>
            <a:r>
              <a:rPr sz="1350" dirty="0" err="1">
                <a:solidFill>
                  <a:srgbClr val="1F2937"/>
                </a:solidFill>
              </a:rPr>
              <a:t>Orquestación</a:t>
            </a:r>
            <a:r>
              <a:rPr sz="1350" dirty="0">
                <a:solidFill>
                  <a:srgbClr val="1F2937"/>
                </a:solidFill>
              </a:rPr>
              <a:t> + RAG </a:t>
            </a:r>
            <a:r>
              <a:rPr sz="1350" dirty="0" err="1">
                <a:solidFill>
                  <a:srgbClr val="1F2937"/>
                </a:solidFill>
              </a:rPr>
              <a:t>sobre</a:t>
            </a:r>
            <a:r>
              <a:rPr sz="1350" dirty="0">
                <a:solidFill>
                  <a:srgbClr val="1F2937"/>
                </a:solidFill>
              </a:rPr>
              <a:t> </a:t>
            </a:r>
            <a:r>
              <a:rPr sz="1350" dirty="0" err="1">
                <a:solidFill>
                  <a:srgbClr val="1F2937"/>
                </a:solidFill>
              </a:rPr>
              <a:t>ChromaDB</a:t>
            </a:r>
            <a:endParaRPr sz="1350" dirty="0">
              <a:solidFill>
                <a:srgbClr val="1F2937"/>
              </a:solidFill>
            </a:endParaRPr>
          </a:p>
          <a:p>
            <a:pPr>
              <a:spcAft>
                <a:spcPts val="1300"/>
              </a:spcAft>
            </a:pPr>
            <a:r>
              <a:rPr sz="1400" b="1" dirty="0">
                <a:solidFill>
                  <a:srgbClr val="10B981"/>
                </a:solidFill>
              </a:rPr>
              <a:t>✓  </a:t>
            </a:r>
            <a:r>
              <a:rPr sz="1350" dirty="0">
                <a:solidFill>
                  <a:srgbClr val="1F2937"/>
                </a:solidFill>
              </a:rPr>
              <a:t>Memoria SQLite + API </a:t>
            </a:r>
            <a:r>
              <a:rPr sz="1350" dirty="0" err="1">
                <a:solidFill>
                  <a:srgbClr val="1F2937"/>
                </a:solidFill>
              </a:rPr>
              <a:t>FastAP</a:t>
            </a:r>
            <a:r>
              <a:rPr lang="en-US" sz="1350" dirty="0" err="1">
                <a:solidFill>
                  <a:srgbClr val="1F2937"/>
                </a:solidFill>
              </a:rPr>
              <a:t>I</a:t>
            </a:r>
            <a:r>
              <a:rPr lang="en-US" sz="1350" dirty="0">
                <a:solidFill>
                  <a:srgbClr val="1F2937"/>
                </a:solidFill>
              </a:rPr>
              <a:t>.</a:t>
            </a:r>
            <a:endParaRPr sz="1350" dirty="0">
              <a:solidFill>
                <a:srgbClr val="1F2937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C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486400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463040"/>
            <a:ext cx="54864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▣  EN PROGRESO / SIGUE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4937760" cy="1310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lang="es-ES" sz="1600" b="1" dirty="0">
                <a:solidFill>
                  <a:srgbClr val="F59E0B"/>
                </a:solidFill>
              </a:rPr>
              <a:t>○  </a:t>
            </a:r>
            <a:r>
              <a:rPr lang="es-ES" sz="1400" dirty="0">
                <a:solidFill>
                  <a:srgbClr val="1F2937"/>
                </a:solidFill>
              </a:rPr>
              <a:t>Épica 07 · Interfaz de usuario</a:t>
            </a:r>
            <a:endParaRPr lang="en-US" sz="1400" b="1" dirty="0">
              <a:solidFill>
                <a:srgbClr val="F59E0B"/>
              </a:solidFill>
            </a:endParaRPr>
          </a:p>
          <a:p>
            <a:pPr>
              <a:spcAft>
                <a:spcPts val="1300"/>
              </a:spcAft>
            </a:pPr>
            <a:r>
              <a:rPr sz="1400" b="1" dirty="0">
                <a:solidFill>
                  <a:srgbClr val="F59E0B"/>
                </a:solidFill>
              </a:rPr>
              <a:t>○  </a:t>
            </a:r>
            <a:r>
              <a:rPr sz="1350" dirty="0" err="1">
                <a:solidFill>
                  <a:srgbClr val="1F2937"/>
                </a:solidFill>
              </a:rPr>
              <a:t>Épica</a:t>
            </a:r>
            <a:r>
              <a:rPr sz="1350" dirty="0">
                <a:solidFill>
                  <a:srgbClr val="1F2937"/>
                </a:solidFill>
              </a:rPr>
              <a:t> 08 · </a:t>
            </a:r>
            <a:r>
              <a:rPr sz="1350" dirty="0" err="1">
                <a:solidFill>
                  <a:srgbClr val="1F2937"/>
                </a:solidFill>
              </a:rPr>
              <a:t>Observabilidad</a:t>
            </a:r>
            <a:r>
              <a:rPr sz="1350" dirty="0">
                <a:solidFill>
                  <a:srgbClr val="1F2937"/>
                </a:solidFill>
              </a:rPr>
              <a:t>: </a:t>
            </a:r>
            <a:r>
              <a:rPr sz="1350" dirty="0" err="1">
                <a:solidFill>
                  <a:srgbClr val="1F2937"/>
                </a:solidFill>
              </a:rPr>
              <a:t>integrar</a:t>
            </a:r>
            <a:r>
              <a:rPr sz="1350" dirty="0">
                <a:solidFill>
                  <a:srgbClr val="1F2937"/>
                </a:solidFill>
              </a:rPr>
              <a:t> </a:t>
            </a:r>
            <a:r>
              <a:rPr sz="1350" dirty="0" err="1">
                <a:solidFill>
                  <a:srgbClr val="1F2937"/>
                </a:solidFill>
              </a:rPr>
              <a:t>Langfuse</a:t>
            </a:r>
            <a:r>
              <a:rPr sz="1350" dirty="0">
                <a:solidFill>
                  <a:srgbClr val="1F2937"/>
                </a:solidFill>
              </a:rPr>
              <a:t> a dev (hoy </a:t>
            </a:r>
            <a:r>
              <a:rPr sz="1350" dirty="0" err="1">
                <a:solidFill>
                  <a:srgbClr val="1F2937"/>
                </a:solidFill>
              </a:rPr>
              <a:t>en</a:t>
            </a:r>
            <a:r>
              <a:rPr sz="1350" dirty="0">
                <a:solidFill>
                  <a:srgbClr val="1F2937"/>
                </a:solidFill>
              </a:rPr>
              <a:t> </a:t>
            </a:r>
            <a:r>
              <a:rPr sz="1350" dirty="0" err="1">
                <a:solidFill>
                  <a:srgbClr val="1F2937"/>
                </a:solidFill>
              </a:rPr>
              <a:t>su</a:t>
            </a:r>
            <a:r>
              <a:rPr sz="1350" dirty="0">
                <a:solidFill>
                  <a:srgbClr val="1F2937"/>
                </a:solidFill>
              </a:rPr>
              <a:t> </a:t>
            </a:r>
            <a:r>
              <a:rPr sz="1350" dirty="0" err="1">
                <a:solidFill>
                  <a:srgbClr val="1F2937"/>
                </a:solidFill>
              </a:rPr>
              <a:t>rama</a:t>
            </a:r>
            <a:r>
              <a:rPr sz="1350" dirty="0">
                <a:solidFill>
                  <a:srgbClr val="1F2937"/>
                </a:solidFill>
              </a:rPr>
              <a:t>)</a:t>
            </a:r>
          </a:p>
          <a:p>
            <a:pPr>
              <a:spcAft>
                <a:spcPts val="1300"/>
              </a:spcAft>
            </a:pPr>
            <a:r>
              <a:rPr sz="1400" b="1" dirty="0">
                <a:solidFill>
                  <a:srgbClr val="F59E0B"/>
                </a:solidFill>
              </a:rPr>
              <a:t>○  </a:t>
            </a:r>
            <a:r>
              <a:rPr sz="1350" dirty="0" err="1">
                <a:solidFill>
                  <a:srgbClr val="1F2937"/>
                </a:solidFill>
              </a:rPr>
              <a:t>Épica</a:t>
            </a:r>
            <a:r>
              <a:rPr sz="1350" dirty="0">
                <a:solidFill>
                  <a:srgbClr val="1F2937"/>
                </a:solidFill>
              </a:rPr>
              <a:t> 09 · Profile bootstrap: </a:t>
            </a:r>
            <a:r>
              <a:rPr sz="1350" dirty="0" err="1">
                <a:solidFill>
                  <a:srgbClr val="1F2937"/>
                </a:solidFill>
              </a:rPr>
              <a:t>cerrar</a:t>
            </a:r>
            <a:r>
              <a:rPr sz="1350" dirty="0">
                <a:solidFill>
                  <a:srgbClr val="1F2937"/>
                </a:solidFill>
              </a:rPr>
              <a:t> </a:t>
            </a:r>
            <a:r>
              <a:rPr sz="1350" dirty="0" err="1">
                <a:solidFill>
                  <a:srgbClr val="1F2937"/>
                </a:solidFill>
              </a:rPr>
              <a:t>el</a:t>
            </a:r>
            <a:r>
              <a:rPr sz="1350" dirty="0">
                <a:solidFill>
                  <a:srgbClr val="1F2937"/>
                </a:solidFill>
              </a:rPr>
              <a:t> gap de carga de </a:t>
            </a:r>
            <a:r>
              <a:rPr sz="1350" dirty="0" err="1">
                <a:solidFill>
                  <a:srgbClr val="1F2937"/>
                </a:solidFill>
              </a:rPr>
              <a:t>perfi</a:t>
            </a:r>
            <a:r>
              <a:rPr lang="en-US" sz="1350" dirty="0" err="1">
                <a:solidFill>
                  <a:srgbClr val="1F2937"/>
                </a:solidFill>
              </a:rPr>
              <a:t>l</a:t>
            </a:r>
            <a:r>
              <a:rPr lang="en-US" sz="1350" dirty="0">
                <a:solidFill>
                  <a:srgbClr val="1F2937"/>
                </a:solidFill>
              </a:rPr>
              <a:t>.</a:t>
            </a:r>
            <a:endParaRPr sz="1350" dirty="0">
              <a:solidFill>
                <a:srgbClr val="1F2937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5715000"/>
            <a:ext cx="1115568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dirty="0">
                <a:solidFill>
                  <a:srgbClr val="6B7280"/>
                </a:solidFill>
                <a:latin typeface="Calibri"/>
              </a:rPr>
              <a:t>Las </a:t>
            </a:r>
            <a:r>
              <a:rPr sz="1200" b="0" dirty="0" err="1">
                <a:solidFill>
                  <a:srgbClr val="6B7280"/>
                </a:solidFill>
                <a:latin typeface="Calibri"/>
              </a:rPr>
              <a:t>trazas</a:t>
            </a:r>
            <a:r>
              <a:rPr sz="12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Calibri"/>
              </a:rPr>
              <a:t>que</a:t>
            </a:r>
            <a:r>
              <a:rPr sz="12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Calibri"/>
              </a:rPr>
              <a:t>mostramos</a:t>
            </a:r>
            <a:r>
              <a:rPr sz="1200" b="0" dirty="0">
                <a:solidFill>
                  <a:srgbClr val="6B7280"/>
                </a:solidFill>
                <a:latin typeface="Calibri"/>
              </a:rPr>
              <a:t> se </a:t>
            </a:r>
            <a:r>
              <a:rPr sz="1200" b="0" dirty="0" err="1">
                <a:solidFill>
                  <a:srgbClr val="6B7280"/>
                </a:solidFill>
                <a:latin typeface="Calibri"/>
              </a:rPr>
              <a:t>generaron</a:t>
            </a:r>
            <a:r>
              <a:rPr sz="12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Calibri"/>
              </a:rPr>
              <a:t>ejecutando</a:t>
            </a:r>
            <a:r>
              <a:rPr sz="1200" b="0" dirty="0">
                <a:solidFill>
                  <a:srgbClr val="6B7280"/>
                </a:solidFill>
                <a:latin typeface="Calibri"/>
              </a:rPr>
              <a:t> la </a:t>
            </a:r>
            <a:r>
              <a:rPr sz="1200" b="0" dirty="0" err="1">
                <a:solidFill>
                  <a:srgbClr val="6B7280"/>
                </a:solidFill>
                <a:latin typeface="Calibri"/>
              </a:rPr>
              <a:t>rama</a:t>
            </a:r>
            <a:r>
              <a:rPr sz="1200" b="0" dirty="0">
                <a:solidFill>
                  <a:srgbClr val="6B7280"/>
                </a:solidFill>
                <a:latin typeface="Calibri"/>
              </a:rPr>
              <a:t> de </a:t>
            </a:r>
            <a:r>
              <a:rPr sz="1200" b="0" dirty="0" err="1">
                <a:solidFill>
                  <a:srgbClr val="6B7280"/>
                </a:solidFill>
                <a:latin typeface="Calibri"/>
              </a:rPr>
              <a:t>observabilidad</a:t>
            </a:r>
            <a:endParaRPr sz="1200" b="0" dirty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737360" cy="635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Seis agentes que ejecutan de verdad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C4B5FD"/>
                </a:solidFill>
                <a:latin typeface="Calibri"/>
              </a:rPr>
              <a:t>Grafos reales del código · una traza real de punta a punta · estado honesto por épica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515600" cy="22570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dirty="0">
                <a:solidFill>
                  <a:srgbClr val="9CA3AF"/>
                </a:solidFill>
                <a:latin typeface="Calibri"/>
              </a:rPr>
              <a:t>Tutor </a:t>
            </a:r>
            <a:r>
              <a:rPr sz="1300" b="0" dirty="0" err="1">
                <a:solidFill>
                  <a:srgbClr val="9CA3AF"/>
                </a:solidFill>
                <a:latin typeface="Calibri"/>
              </a:rPr>
              <a:t>Académico</a:t>
            </a:r>
            <a:r>
              <a:rPr sz="1300" b="0" dirty="0">
                <a:solidFill>
                  <a:srgbClr val="9CA3AF"/>
                </a:solidFill>
                <a:latin typeface="Calibri"/>
              </a:rPr>
              <a:t> Personal · IA 2026 · UTN Santa Fe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668</Words>
  <Application>Microsoft Office PowerPoint</Application>
  <PresentationFormat>Widescreen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maxi bernard</cp:lastModifiedBy>
  <cp:revision>4</cp:revision>
  <dcterms:created xsi:type="dcterms:W3CDTF">2013-01-27T09:14:16Z</dcterms:created>
  <dcterms:modified xsi:type="dcterms:W3CDTF">2026-06-21T20:34:34Z</dcterms:modified>
  <cp:category/>
</cp:coreProperties>
</file>