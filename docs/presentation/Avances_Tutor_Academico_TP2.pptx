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AF2"/>
    <a:srgbClr val="F5C092"/>
    <a:srgbClr val="B992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737360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932688"/>
            <a:ext cx="274320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ENTREGA 2 · AVANCES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12801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Tutor Académico Personal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515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0">
                <a:solidFill>
                  <a:srgbClr val="8B5CF6"/>
                </a:solidFill>
                <a:latin typeface="Calibri Light"/>
              </a:rPr>
              <a:t>Avances de implementación — agentes en ejecución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dirty="0" err="1">
                <a:solidFill>
                  <a:srgbClr val="C4B5FD"/>
                </a:solidFill>
                <a:latin typeface="Calibri"/>
              </a:rPr>
              <a:t>Grafos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reales de </a:t>
            </a:r>
            <a:r>
              <a:rPr sz="1600" b="0" dirty="0" err="1">
                <a:solidFill>
                  <a:srgbClr val="C4B5FD"/>
                </a:solidFill>
                <a:latin typeface="Calibri"/>
              </a:rPr>
              <a:t>cada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C4B5FD"/>
                </a:solidFill>
                <a:latin typeface="Calibri"/>
              </a:rPr>
              <a:t>agente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· </a:t>
            </a:r>
            <a:r>
              <a:rPr sz="1600" b="0" dirty="0" err="1">
                <a:solidFill>
                  <a:srgbClr val="C4B5FD"/>
                </a:solidFill>
                <a:latin typeface="Calibri"/>
              </a:rPr>
              <a:t>traza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real de </a:t>
            </a:r>
            <a:r>
              <a:rPr lang="en-US" sz="1600" b="0" dirty="0" err="1">
                <a:solidFill>
                  <a:srgbClr val="C4B5FD"/>
                </a:solidFill>
                <a:latin typeface="Calibri"/>
              </a:rPr>
              <a:t>generación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de examen · </a:t>
            </a:r>
            <a:r>
              <a:rPr sz="1600" b="0" dirty="0" err="1">
                <a:solidFill>
                  <a:srgbClr val="C4B5FD"/>
                </a:solidFill>
                <a:latin typeface="Calibri"/>
              </a:rPr>
              <a:t>estado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C4B5FD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C4B5FD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C4B5FD"/>
                </a:solidFill>
                <a:latin typeface="Calibri"/>
              </a:rPr>
              <a:t>épica</a:t>
            </a:r>
            <a:endParaRPr sz="1600" b="0" dirty="0">
              <a:solidFill>
                <a:srgbClr val="C4B5FD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15600" cy="2410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dirty="0" err="1">
                <a:solidFill>
                  <a:srgbClr val="9CA3AF"/>
                </a:solidFill>
                <a:latin typeface="Calibri"/>
              </a:rPr>
              <a:t>Trabajo</a:t>
            </a:r>
            <a:r>
              <a:rPr sz="1400" b="0" dirty="0">
                <a:solidFill>
                  <a:srgbClr val="9CA3AF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9CA3AF"/>
                </a:solidFill>
                <a:latin typeface="Calibri"/>
              </a:rPr>
              <a:t>Práctico</a:t>
            </a:r>
            <a:r>
              <a:rPr sz="1400" b="0" dirty="0">
                <a:solidFill>
                  <a:srgbClr val="9CA3AF"/>
                </a:solidFill>
                <a:latin typeface="Calibri"/>
              </a:rPr>
              <a:t> N°2  ·  </a:t>
            </a:r>
            <a:r>
              <a:rPr sz="1400" b="0" dirty="0" err="1">
                <a:solidFill>
                  <a:srgbClr val="9CA3AF"/>
                </a:solidFill>
                <a:latin typeface="Calibri"/>
              </a:rPr>
              <a:t>Inteligencia</a:t>
            </a:r>
            <a:r>
              <a:rPr sz="1400" b="0" dirty="0">
                <a:solidFill>
                  <a:srgbClr val="9CA3AF"/>
                </a:solidFill>
                <a:latin typeface="Calibri"/>
              </a:rPr>
              <a:t> Artificial 2026  ·  UTN Santa 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CÓMO AVANZAMOS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Una épica por rama, integradas a dev por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2410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dirty="0">
                <a:solidFill>
                  <a:srgbClr val="1F2937"/>
                </a:solidFill>
                <a:latin typeface="Calibri"/>
              </a:rPr>
              <a:t>Cada </a:t>
            </a:r>
            <a:r>
              <a:rPr sz="1400" b="0" dirty="0" err="1">
                <a:solidFill>
                  <a:srgbClr val="1F2937"/>
                </a:solidFill>
                <a:latin typeface="Calibri"/>
              </a:rPr>
              <a:t>épica</a:t>
            </a:r>
            <a:r>
              <a:rPr sz="1400" b="0" dirty="0">
                <a:solidFill>
                  <a:srgbClr val="1F2937"/>
                </a:solidFill>
                <a:latin typeface="Calibri"/>
              </a:rPr>
              <a:t> se </a:t>
            </a:r>
            <a:r>
              <a:rPr sz="1400" b="0" dirty="0" err="1">
                <a:solidFill>
                  <a:srgbClr val="1F2937"/>
                </a:solidFill>
                <a:latin typeface="Calibri"/>
              </a:rPr>
              <a:t>desarrolló</a:t>
            </a:r>
            <a:r>
              <a:rPr sz="14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Calibri"/>
              </a:rPr>
              <a:t>en</a:t>
            </a:r>
            <a:r>
              <a:rPr sz="14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Calibri"/>
              </a:rPr>
              <a:t>su</a:t>
            </a:r>
            <a:r>
              <a:rPr sz="14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Calibri"/>
              </a:rPr>
              <a:t>rama</a:t>
            </a:r>
            <a:r>
              <a:rPr sz="14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400" b="1" dirty="0">
                <a:solidFill>
                  <a:srgbClr val="4F46E5"/>
                </a:solidFill>
                <a:latin typeface="Calibri"/>
              </a:rPr>
              <a:t>feat/epic-XX</a:t>
            </a:r>
            <a:endParaRPr sz="1400" b="0" dirty="0">
              <a:solidFill>
                <a:srgbClr val="1F2937"/>
              </a:solidFill>
              <a:latin typeface="Calibri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034960"/>
              </p:ext>
            </p:extLst>
          </p:nvPr>
        </p:nvGraphicFramePr>
        <p:xfrm>
          <a:off x="502920" y="1828800"/>
          <a:ext cx="11155680" cy="42976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69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Épica</a:t>
                      </a:r>
                      <a:endParaRPr dirty="0"/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Componente</a:t>
                      </a:r>
                      <a:endParaRPr dirty="0"/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Estado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 err="1"/>
                        <a:t>Ingestor</a:t>
                      </a:r>
                      <a:endParaRPr dirty="0"/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 err="1"/>
                        <a:t>ExamGenerator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ExerciseGenerator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✅  en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Evaluator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rPr dirty="0"/>
                        <a:t>✅ 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dev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rPr dirty="0"/>
                        <a:t>06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Support Agent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rPr dirty="0"/>
                        <a:t>✅ 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rPr dirty="0"/>
                        <a:t>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UI — Next.js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📋  </a:t>
                      </a:r>
                      <a:r>
                        <a:rPr lang="en-US" dirty="0" err="1"/>
                        <a:t>Pendiente</a:t>
                      </a:r>
                      <a:endParaRPr lang="en-US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467862"/>
                  </a:ext>
                </a:extLst>
              </a:tr>
              <a:tr h="390698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rPr dirty="0"/>
                        <a:t>08</a:t>
                      </a:r>
                    </a:p>
                  </a:txBody>
                  <a:tcPr anchor="ctr">
                    <a:solidFill>
                      <a:srgbClr val="EEEA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Observabilidad (Langfuse)</a:t>
                      </a:r>
                    </a:p>
                  </a:txBody>
                  <a:tcPr anchor="ctr">
                    <a:solidFill>
                      <a:srgbClr val="EEEA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rPr dirty="0"/>
                        <a:t>⏳  feat/epic-08 ·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progreso</a:t>
                      </a:r>
                      <a:endParaRPr dirty="0"/>
                    </a:p>
                  </a:txBody>
                  <a:tcPr anchor="ctr">
                    <a:solidFill>
                      <a:srgbClr val="EEEA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070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rPr dirty="0"/>
                        <a:t>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Profile bootstrap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6B7280"/>
                          </a:solidFill>
                          <a:latin typeface="Calibri"/>
                        </a:defRPr>
                      </a:pPr>
                      <a:r>
                        <a:rPr dirty="0"/>
                        <a:t>📋  </a:t>
                      </a:r>
                      <a:r>
                        <a:rPr lang="en-US" dirty="0" err="1"/>
                        <a:t>Pendiente</a:t>
                      </a:r>
                      <a:endParaRPr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0700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4F46E5"/>
                          </a:solidFill>
                          <a:latin typeface="Calibri"/>
                        </a:defRPr>
                      </a:pPr>
                      <a:r>
                        <a:rPr dirty="0"/>
                        <a:t>10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Refactor de </a:t>
                      </a:r>
                      <a:r>
                        <a:rPr dirty="0" err="1"/>
                        <a:t>arquitectura</a:t>
                      </a:r>
                      <a:endParaRPr dirty="0"/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rPr dirty="0"/>
                        <a:t>✅ 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dev</a:t>
                      </a:r>
                    </a:p>
                  </a:txBody>
                  <a:tcPr anchor="ctr"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9138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Orquestador + 5 agentes especializados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828800"/>
            <a:ext cx="2468880" cy="10058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0" y="1828800"/>
            <a:ext cx="2468880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C4B5FD"/>
                </a:solidFill>
                <a:latin typeface="Calibri"/>
              </a:rPr>
              <a:t>Plan-and-Execute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9202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Ingestor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07408"/>
            <a:ext cx="19202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ingiere material → RAG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926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17520" y="3931920"/>
            <a:ext cx="19202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ExamGenerator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407408"/>
            <a:ext cx="19202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exámenes MCQ + abiertas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12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212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03520" y="3931920"/>
            <a:ext cx="19202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ExerciseGenerator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407408"/>
            <a:ext cx="19202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ejercicios prácticos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98079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98079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89519" y="3931920"/>
            <a:ext cx="19202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Evaluator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4407408"/>
            <a:ext cx="19202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corrige + feedback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199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84080" y="3657600"/>
            <a:ext cx="2103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784080" y="3657600"/>
            <a:ext cx="2103120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75520" y="3931920"/>
            <a:ext cx="19202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Calibri"/>
              </a:rPr>
              <a:t>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4407408"/>
            <a:ext cx="192024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perfil y progreso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44200" y="2834640"/>
            <a:ext cx="25400" cy="822960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532120"/>
            <a:ext cx="1115568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dirty="0">
                <a:solidFill>
                  <a:srgbClr val="1F2937"/>
                </a:solidFill>
                <a:latin typeface="Calibri"/>
              </a:rPr>
              <a:t>Cada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agente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es un </a:t>
            </a:r>
            <a:r>
              <a:rPr sz="1300" b="1" dirty="0" err="1">
                <a:solidFill>
                  <a:srgbClr val="6D28D9"/>
                </a:solidFill>
                <a:latin typeface="Calibri"/>
              </a:rPr>
              <a:t>StateGraph</a:t>
            </a:r>
            <a:r>
              <a:rPr sz="1300" b="1" dirty="0">
                <a:solidFill>
                  <a:srgbClr val="6D28D9"/>
                </a:solidFill>
                <a:latin typeface="Calibri"/>
              </a:rPr>
              <a:t> de </a:t>
            </a:r>
            <a:r>
              <a:rPr sz="1300" b="1" dirty="0" err="1">
                <a:solidFill>
                  <a:srgbClr val="6D28D9"/>
                </a:solidFill>
                <a:latin typeface="Calibri"/>
              </a:rPr>
              <a:t>LangGraph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con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su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propio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flujo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de control. El Orchestrator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clasifica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la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intención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del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usuario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y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enruta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al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agente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correcto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(o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planifica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tareas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Calibri"/>
              </a:rPr>
              <a:t>compuestas</a:t>
            </a:r>
            <a:r>
              <a:rPr sz="1300" b="0" dirty="0">
                <a:solidFill>
                  <a:srgbClr val="1F2937"/>
                </a:solidFill>
                <a:latin typeface="Calibri"/>
              </a:rPr>
              <a:t>).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F01C99F-6F9A-A24C-E22A-8A9D98A0693D}"/>
              </a:ext>
            </a:extLst>
          </p:cNvPr>
          <p:cNvSpPr/>
          <p:nvPr/>
        </p:nvSpPr>
        <p:spPr>
          <a:xfrm rot="5400000">
            <a:off x="6159499" y="-1753745"/>
            <a:ext cx="50800" cy="9169403"/>
          </a:xfrm>
          <a:prstGeom prst="rect">
            <a:avLst/>
          </a:prstGeom>
          <a:solidFill>
            <a:srgbClr val="EE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Orchestrator — enrutamiento y plan-execute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</a:t>
            </a:r>
          </a:p>
        </p:txBody>
      </p:sp>
      <p:pic>
        <p:nvPicPr>
          <p:cNvPr id="8" name="Picture 7" descr="graph_orchest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79" y="1417320"/>
            <a:ext cx="3063161" cy="47548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17920" y="1554480"/>
            <a:ext cx="5440680" cy="4480560"/>
          </a:xfrm>
          <a:prstGeom prst="rect">
            <a:avLst/>
          </a:prstGeom>
          <a:solidFill>
            <a:srgbClr val="F5F3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02920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Qué hace el grafo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 b="1">
                <a:solidFill>
                  <a:srgbClr val="1F2937"/>
                </a:solidFill>
              </a:rPr>
              <a:t>classify_intent
</a:t>
            </a:r>
            <a:r>
              <a:rPr sz="1200">
                <a:solidFill>
                  <a:srgbClr val="6B7280"/>
                </a:solidFill>
              </a:rPr>
              <a:t>detecta la intención (ingest, examen, ejercicio, evaluar, perfil, compuesto)</a:t>
            </a:r>
          </a:p>
          <a:p>
            <a:pPr>
              <a:spcAft>
                <a:spcPts val="1100"/>
              </a:spcAft>
            </a:pPr>
            <a:r>
              <a:rPr sz="1350" b="1">
                <a:solidFill>
                  <a:srgbClr val="1F2937"/>
                </a:solidFill>
              </a:rPr>
              <a:t>route_to_agent
</a:t>
            </a:r>
            <a:r>
              <a:rPr sz="1200">
                <a:solidFill>
                  <a:srgbClr val="6B7280"/>
                </a:solidFill>
              </a:rPr>
              <a:t>arista condicional → deriva al agente adecuado</a:t>
            </a:r>
          </a:p>
          <a:p>
            <a:pPr>
              <a:spcAft>
                <a:spcPts val="1100"/>
              </a:spcAft>
            </a:pPr>
            <a:r>
              <a:rPr sz="1350" b="1">
                <a:solidFill>
                  <a:srgbClr val="1F2937"/>
                </a:solidFill>
              </a:rPr>
              <a:t>plan_composite
</a:t>
            </a:r>
            <a:r>
              <a:rPr sz="1200">
                <a:solidFill>
                  <a:srgbClr val="6B7280"/>
                </a:solidFill>
              </a:rPr>
              <a:t>descompone pedidos multi-paso en una secuencia de tools</a:t>
            </a:r>
          </a:p>
          <a:p>
            <a:pPr>
              <a:spcAft>
                <a:spcPts val="1100"/>
              </a:spcAft>
            </a:pPr>
            <a:r>
              <a:rPr sz="1350" b="1">
                <a:solidFill>
                  <a:srgbClr val="1F2937"/>
                </a:solidFill>
              </a:rPr>
              <a:t>execute_step
</a:t>
            </a:r>
            <a:r>
              <a:rPr sz="1200">
                <a:solidFill>
                  <a:srgbClr val="6B7280"/>
                </a:solidFill>
              </a:rPr>
              <a:t>ejecuta cada paso; bucle con control de iteraciones</a:t>
            </a:r>
          </a:p>
          <a:p>
            <a:pPr>
              <a:spcAft>
                <a:spcPts val="1100"/>
              </a:spcAft>
            </a:pPr>
            <a:r>
              <a:rPr sz="1350" b="1">
                <a:solidFill>
                  <a:srgbClr val="1F2937"/>
                </a:solidFill>
              </a:rPr>
              <a:t>synthesize_response
</a:t>
            </a:r>
            <a:r>
              <a:rPr sz="1200">
                <a:solidFill>
                  <a:srgbClr val="6B7280"/>
                </a:solidFill>
              </a:rPr>
              <a:t>redacta la respuesta final al estudiante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Ingestor · ExamGenerator · ExerciseGenerator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Ingestor</a:t>
            </a:r>
          </a:p>
        </p:txBody>
      </p:sp>
      <p:pic>
        <p:nvPicPr>
          <p:cNvPr id="9" name="Picture 8" descr="graph_inges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253" y="1828800"/>
            <a:ext cx="1540933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669280"/>
            <a:ext cx="3657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lineal: parse → classify → chunk+embed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132588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ExamGenerator</a:t>
            </a:r>
          </a:p>
        </p:txBody>
      </p:sp>
      <p:pic>
        <p:nvPicPr>
          <p:cNvPr id="12" name="Picture 11" descr="graph_exam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374" y="1828800"/>
            <a:ext cx="1421347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70248" y="5669280"/>
            <a:ext cx="3657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retrieve → generate → validate →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2" y="132588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ExerciseGenerator</a:t>
            </a:r>
          </a:p>
        </p:txBody>
      </p:sp>
      <p:pic>
        <p:nvPicPr>
          <p:cNvPr id="15" name="Picture 14" descr="graph_exercise_gener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6558" y="1828800"/>
            <a:ext cx="1421347" cy="36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28432" y="5669280"/>
            <a:ext cx="36576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genera ejercicios con contexto RAG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Evaluator y Support — ruteo condicional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42062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Evaluator</a:t>
            </a:r>
          </a:p>
        </p:txBody>
      </p:sp>
      <p:pic>
        <p:nvPicPr>
          <p:cNvPr id="9" name="Picture 8" descr="graph_evalu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138" y="1691640"/>
            <a:ext cx="1379483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6320" y="1280160"/>
            <a:ext cx="27432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4F46E5"/>
                </a:solidFill>
                <a:latin typeface="Calibri"/>
              </a:rPr>
              <a:t>Support</a:t>
            </a:r>
          </a:p>
        </p:txBody>
      </p:sp>
      <p:pic>
        <p:nvPicPr>
          <p:cNvPr id="11" name="Picture 10" descr="graph_sup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952" y="1920240"/>
            <a:ext cx="2058175" cy="32918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886200" cy="4526280"/>
          </a:xfrm>
          <a:prstGeom prst="rect">
            <a:avLst/>
          </a:prstGeom>
          <a:solidFill>
            <a:srgbClr val="F5F3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1737360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Ingeniería de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240280"/>
            <a:ext cx="3520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1F2937"/>
                </a:solidFill>
              </a:rPr>
              <a:t>Evaluator (8 nodos)
</a:t>
            </a:r>
            <a:r>
              <a:rPr sz="1150">
                <a:solidFill>
                  <a:srgbClr val="6B7280"/>
                </a:solidFill>
              </a:rPr>
              <a:t>ramifica según evaluabilidad y dispara un llm_judge sólo cuando hace falta validar el feedback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1F2937"/>
                </a:solidFill>
              </a:rPr>
              <a:t>Anti-alucinación
</a:t>
            </a:r>
            <a:r>
              <a:rPr sz="1150">
                <a:solidFill>
                  <a:srgbClr val="6B7280"/>
                </a:solidFill>
              </a:rPr>
              <a:t>el feedback se valida contra el material antes de entregarse</a:t>
            </a:r>
          </a:p>
          <a:p>
            <a:pPr>
              <a:spcAft>
                <a:spcPts val="1200"/>
              </a:spcAft>
            </a:pPr>
            <a:r>
              <a:rPr sz="1300" b="1">
                <a:solidFill>
                  <a:srgbClr val="1F2937"/>
                </a:solidFill>
              </a:rPr>
              <a:t>Support (4 nodos)
</a:t>
            </a:r>
            <a:r>
              <a:rPr sz="1150">
                <a:solidFill>
                  <a:srgbClr val="6B7280"/>
                </a:solidFill>
              </a:rPr>
              <a:t>salta la historia de sesiones si el alumno es nuevo (arista condicional)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GRAFO REAL · 4/4 · EJECUCIÓN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Traza real: generación de un examen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</a:t>
            </a:r>
          </a:p>
        </p:txBody>
      </p:sp>
      <p:pic>
        <p:nvPicPr>
          <p:cNvPr id="8" name="Picture 7" descr="exam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165" y="1280160"/>
            <a:ext cx="5060149" cy="5029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1417320"/>
            <a:ext cx="3200400" cy="4663440"/>
          </a:xfrm>
          <a:prstGeom prst="rect">
            <a:avLst/>
          </a:prstGeom>
          <a:solidFill>
            <a:srgbClr val="F5F3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32520" y="1600200"/>
            <a:ext cx="28346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D28D9"/>
                </a:solidFill>
                <a:latin typeface="Calibri"/>
              </a:rPr>
              <a:t>Captura real (Langfuse)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148840"/>
            <a:ext cx="278892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 dirty="0">
                <a:solidFill>
                  <a:srgbClr val="8B5CF6"/>
                </a:solidFill>
              </a:rPr>
              <a:t>• </a:t>
            </a:r>
            <a:r>
              <a:rPr sz="1150" dirty="0">
                <a:solidFill>
                  <a:srgbClr val="1F2937"/>
                </a:solidFill>
              </a:rPr>
              <a:t>Un </a:t>
            </a:r>
            <a:r>
              <a:rPr sz="1150" dirty="0" err="1">
                <a:solidFill>
                  <a:srgbClr val="1F2937"/>
                </a:solidFill>
              </a:rPr>
              <a:t>pedido</a:t>
            </a:r>
            <a:r>
              <a:rPr sz="1150" dirty="0">
                <a:solidFill>
                  <a:srgbClr val="1F2937"/>
                </a:solidFill>
              </a:rPr>
              <a:t> real </a:t>
            </a:r>
            <a:r>
              <a:rPr sz="1150" dirty="0" err="1">
                <a:solidFill>
                  <a:srgbClr val="1F2937"/>
                </a:solidFill>
              </a:rPr>
              <a:t>disparó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el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flujo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completo</a:t>
            </a:r>
            <a:r>
              <a:rPr sz="1150" dirty="0">
                <a:solidFill>
                  <a:srgbClr val="1F2937"/>
                </a:solidFill>
              </a:rPr>
              <a:t> de extremo a extremo.</a:t>
            </a:r>
          </a:p>
          <a:p>
            <a:pPr>
              <a:spcAft>
                <a:spcPts val="1000"/>
              </a:spcAft>
            </a:pPr>
            <a:r>
              <a:rPr sz="1200" b="1" dirty="0">
                <a:solidFill>
                  <a:srgbClr val="8B5CF6"/>
                </a:solidFill>
              </a:rPr>
              <a:t>• </a:t>
            </a:r>
            <a:r>
              <a:rPr sz="1150" dirty="0" err="1">
                <a:solidFill>
                  <a:srgbClr val="1F2937"/>
                </a:solidFill>
              </a:rPr>
              <a:t>classify_intent</a:t>
            </a:r>
            <a:r>
              <a:rPr sz="1150" dirty="0">
                <a:solidFill>
                  <a:srgbClr val="1F2937"/>
                </a:solidFill>
              </a:rPr>
              <a:t> → </a:t>
            </a:r>
            <a:r>
              <a:rPr sz="1150" dirty="0" err="1">
                <a:solidFill>
                  <a:srgbClr val="1F2937"/>
                </a:solidFill>
              </a:rPr>
              <a:t>plan_composite</a:t>
            </a:r>
            <a:r>
              <a:rPr sz="1150" dirty="0">
                <a:solidFill>
                  <a:srgbClr val="1F2937"/>
                </a:solidFill>
              </a:rPr>
              <a:t> → </a:t>
            </a:r>
            <a:r>
              <a:rPr sz="1150" dirty="0" err="1">
                <a:solidFill>
                  <a:srgbClr val="1F2937"/>
                </a:solidFill>
              </a:rPr>
              <a:t>execute_step</a:t>
            </a:r>
            <a:r>
              <a:rPr sz="1150" dirty="0">
                <a:solidFill>
                  <a:srgbClr val="1F2937"/>
                </a:solidFill>
              </a:rPr>
              <a:t> → </a:t>
            </a:r>
            <a:r>
              <a:rPr sz="1150" dirty="0" err="1">
                <a:solidFill>
                  <a:srgbClr val="1F2937"/>
                </a:solidFill>
              </a:rPr>
              <a:t>generate_exam</a:t>
            </a:r>
            <a:r>
              <a:rPr sz="1150" dirty="0">
                <a:solidFill>
                  <a:srgbClr val="1F2937"/>
                </a:solidFill>
              </a:rPr>
              <a:t>.</a:t>
            </a:r>
          </a:p>
          <a:p>
            <a:pPr>
              <a:spcAft>
                <a:spcPts val="1000"/>
              </a:spcAft>
            </a:pPr>
            <a:r>
              <a:rPr sz="1200" b="1" dirty="0">
                <a:solidFill>
                  <a:srgbClr val="8B5CF6"/>
                </a:solidFill>
              </a:rPr>
              <a:t>• </a:t>
            </a:r>
            <a:r>
              <a:rPr sz="1150" dirty="0" err="1">
                <a:solidFill>
                  <a:srgbClr val="1F2937"/>
                </a:solidFill>
              </a:rPr>
              <a:t>generate_exam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abre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su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propio</a:t>
            </a:r>
            <a:r>
              <a:rPr sz="1150" dirty="0">
                <a:solidFill>
                  <a:srgbClr val="1F2937"/>
                </a:solidFill>
              </a:rPr>
              <a:t> sub-</a:t>
            </a:r>
            <a:r>
              <a:rPr sz="1150" dirty="0" err="1">
                <a:solidFill>
                  <a:srgbClr val="1F2937"/>
                </a:solidFill>
              </a:rPr>
              <a:t>grafo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LangGraph</a:t>
            </a:r>
            <a:r>
              <a:rPr sz="1150" dirty="0">
                <a:solidFill>
                  <a:srgbClr val="1F2937"/>
                </a:solidFill>
              </a:rPr>
              <a:t>.</a:t>
            </a:r>
          </a:p>
          <a:p>
            <a:pPr>
              <a:spcAft>
                <a:spcPts val="1000"/>
              </a:spcAft>
            </a:pPr>
            <a:r>
              <a:rPr sz="1200" b="1" dirty="0">
                <a:solidFill>
                  <a:srgbClr val="8B5CF6"/>
                </a:solidFill>
              </a:rPr>
              <a:t>• </a:t>
            </a:r>
            <a:r>
              <a:rPr sz="1150" dirty="0">
                <a:solidFill>
                  <a:srgbClr val="1F2937"/>
                </a:solidFill>
              </a:rPr>
              <a:t>Adentro: </a:t>
            </a:r>
            <a:r>
              <a:rPr sz="1150" dirty="0" err="1">
                <a:solidFill>
                  <a:srgbClr val="1F2937"/>
                </a:solidFill>
              </a:rPr>
              <a:t>retrieve_chunks</a:t>
            </a:r>
            <a:r>
              <a:rPr sz="1150" dirty="0">
                <a:solidFill>
                  <a:srgbClr val="1F2937"/>
                </a:solidFill>
              </a:rPr>
              <a:t> → </a:t>
            </a:r>
            <a:r>
              <a:rPr sz="1150" dirty="0" err="1">
                <a:solidFill>
                  <a:srgbClr val="1F2937"/>
                </a:solidFill>
              </a:rPr>
              <a:t>rag_retrieve</a:t>
            </a:r>
            <a:r>
              <a:rPr sz="1150" dirty="0">
                <a:solidFill>
                  <a:srgbClr val="1F2937"/>
                </a:solidFill>
              </a:rPr>
              <a:t> (RAG real </a:t>
            </a:r>
            <a:r>
              <a:rPr sz="1150" dirty="0" err="1">
                <a:solidFill>
                  <a:srgbClr val="1F2937"/>
                </a:solidFill>
              </a:rPr>
              <a:t>sobre</a:t>
            </a:r>
            <a:r>
              <a:rPr sz="1150" dirty="0">
                <a:solidFill>
                  <a:srgbClr val="1F2937"/>
                </a:solidFill>
              </a:rPr>
              <a:t> </a:t>
            </a:r>
            <a:r>
              <a:rPr sz="1150" dirty="0" err="1">
                <a:solidFill>
                  <a:srgbClr val="1F2937"/>
                </a:solidFill>
              </a:rPr>
              <a:t>ChromaDB</a:t>
            </a:r>
            <a:r>
              <a:rPr sz="1150" dirty="0">
                <a:solidFill>
                  <a:srgbClr val="1F2937"/>
                </a:solidFill>
              </a:rPr>
              <a:t>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dirty="0" err="1">
                <a:solidFill>
                  <a:srgbClr val="6B7280"/>
                </a:solidFill>
                <a:latin typeface="Calibri"/>
              </a:rPr>
              <a:t>Reconstruida</a:t>
            </a:r>
            <a:r>
              <a:rPr sz="950" b="0" dirty="0">
                <a:solidFill>
                  <a:srgbClr val="6B7280"/>
                </a:solidFill>
                <a:latin typeface="Calibri"/>
              </a:rPr>
              <a:t> del export de </a:t>
            </a:r>
            <a:r>
              <a:rPr sz="950" b="0" dirty="0" err="1">
                <a:solidFill>
                  <a:srgbClr val="6B7280"/>
                </a:solidFill>
                <a:latin typeface="Calibri"/>
              </a:rPr>
              <a:t>trazas</a:t>
            </a:r>
            <a:r>
              <a:rPr sz="950" b="0" dirty="0">
                <a:solidFill>
                  <a:srgbClr val="6B7280"/>
                </a:solidFill>
                <a:latin typeface="Calibri"/>
              </a:rPr>
              <a:t> · </a:t>
            </a:r>
            <a:r>
              <a:rPr sz="950" b="0" dirty="0" err="1">
                <a:solidFill>
                  <a:srgbClr val="6B7280"/>
                </a:solidFill>
                <a:latin typeface="Calibri"/>
              </a:rPr>
              <a:t>modelo</a:t>
            </a:r>
            <a:r>
              <a:rPr sz="950" b="0" dirty="0">
                <a:solidFill>
                  <a:srgbClr val="6B7280"/>
                </a:solidFill>
                <a:latin typeface="Calibri"/>
              </a:rPr>
              <a:t> local </a:t>
            </a:r>
            <a:r>
              <a:rPr lang="en-US" sz="950" dirty="0">
                <a:solidFill>
                  <a:srgbClr val="6B7280"/>
                </a:solidFill>
                <a:latin typeface="Calibri"/>
              </a:rPr>
              <a:t>gemma4:e4b-it-q8_0 </a:t>
            </a:r>
            <a:r>
              <a:rPr sz="950" b="0" dirty="0">
                <a:solidFill>
                  <a:srgbClr val="6B7280"/>
                </a:solidFill>
                <a:latin typeface="Calibri"/>
              </a:rPr>
              <a:t>(</a:t>
            </a:r>
            <a:r>
              <a:rPr sz="950" b="0" dirty="0" err="1">
                <a:solidFill>
                  <a:srgbClr val="6B7280"/>
                </a:solidFill>
                <a:latin typeface="Calibri"/>
              </a:rPr>
              <a:t>Ollama</a:t>
            </a:r>
            <a:r>
              <a:rPr sz="950" b="0" dirty="0">
                <a:solidFill>
                  <a:srgbClr val="6B7280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B5CF6"/>
                </a:solidFill>
                <a:latin typeface="Calibri"/>
              </a:rPr>
              <a:t>ESTADO Y 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060704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Qué está listo y qué sigue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384048"/>
            <a:ext cx="6400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8B5CF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83096"/>
            <a:ext cx="8229600" cy="1641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dirty="0">
                <a:solidFill>
                  <a:srgbClr val="6B7280"/>
                </a:solidFill>
                <a:latin typeface="Calibri"/>
              </a:rPr>
              <a:t>Tutor </a:t>
            </a:r>
            <a:r>
              <a:rPr sz="900" b="0" dirty="0" err="1">
                <a:solidFill>
                  <a:srgbClr val="6B7280"/>
                </a:solidFill>
                <a:latin typeface="Calibri"/>
              </a:rPr>
              <a:t>Académico</a:t>
            </a:r>
            <a:r>
              <a:rPr sz="900" b="0" dirty="0">
                <a:solidFill>
                  <a:srgbClr val="6B7280"/>
                </a:solidFill>
                <a:latin typeface="Calibri"/>
              </a:rPr>
              <a:t> Personal · IA 2026 · UTN Santa Fe 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✓  EN dev — FUNCIONA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4937760" cy="1072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400" b="1" dirty="0">
                <a:solidFill>
                  <a:srgbClr val="10B981"/>
                </a:solidFill>
              </a:rPr>
              <a:t>✓  </a:t>
            </a:r>
            <a:r>
              <a:rPr sz="1350" dirty="0">
                <a:solidFill>
                  <a:srgbClr val="1F2937"/>
                </a:solidFill>
              </a:rPr>
              <a:t>6 </a:t>
            </a:r>
            <a:r>
              <a:rPr sz="1350" dirty="0" err="1">
                <a:solidFill>
                  <a:srgbClr val="1F2937"/>
                </a:solidFill>
              </a:rPr>
              <a:t>agentes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en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LangGraph</a:t>
            </a:r>
            <a:r>
              <a:rPr sz="1350" dirty="0">
                <a:solidFill>
                  <a:srgbClr val="1F2937"/>
                </a:solidFill>
              </a:rPr>
              <a:t>, </a:t>
            </a:r>
            <a:r>
              <a:rPr sz="1350" dirty="0" err="1">
                <a:solidFill>
                  <a:srgbClr val="1F2937"/>
                </a:solidFill>
              </a:rPr>
              <a:t>cada</a:t>
            </a:r>
            <a:r>
              <a:rPr sz="1350" dirty="0">
                <a:solidFill>
                  <a:srgbClr val="1F2937"/>
                </a:solidFill>
              </a:rPr>
              <a:t> uno con </a:t>
            </a:r>
            <a:r>
              <a:rPr sz="1350" dirty="0" err="1">
                <a:solidFill>
                  <a:srgbClr val="1F2937"/>
                </a:solidFill>
              </a:rPr>
              <a:t>su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grafo</a:t>
            </a:r>
            <a:endParaRPr sz="1350" dirty="0">
              <a:solidFill>
                <a:srgbClr val="1F2937"/>
              </a:solidFill>
            </a:endParaRPr>
          </a:p>
          <a:p>
            <a:pPr>
              <a:spcAft>
                <a:spcPts val="1300"/>
              </a:spcAft>
            </a:pPr>
            <a:r>
              <a:rPr sz="1400" b="1" dirty="0">
                <a:solidFill>
                  <a:srgbClr val="10B981"/>
                </a:solidFill>
              </a:rPr>
              <a:t>✓  </a:t>
            </a:r>
            <a:r>
              <a:rPr sz="1350" dirty="0" err="1">
                <a:solidFill>
                  <a:srgbClr val="1F2937"/>
                </a:solidFill>
              </a:rPr>
              <a:t>Orquestación</a:t>
            </a:r>
            <a:r>
              <a:rPr sz="1350" dirty="0">
                <a:solidFill>
                  <a:srgbClr val="1F2937"/>
                </a:solidFill>
              </a:rPr>
              <a:t> + RAG </a:t>
            </a:r>
            <a:r>
              <a:rPr sz="1350" dirty="0" err="1">
                <a:solidFill>
                  <a:srgbClr val="1F2937"/>
                </a:solidFill>
              </a:rPr>
              <a:t>sobre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ChromaDB</a:t>
            </a:r>
            <a:endParaRPr sz="1350" dirty="0">
              <a:solidFill>
                <a:srgbClr val="1F2937"/>
              </a:solidFill>
            </a:endParaRPr>
          </a:p>
          <a:p>
            <a:pPr>
              <a:spcAft>
                <a:spcPts val="1300"/>
              </a:spcAft>
            </a:pPr>
            <a:r>
              <a:rPr sz="1400" b="1" dirty="0">
                <a:solidFill>
                  <a:srgbClr val="10B981"/>
                </a:solidFill>
              </a:rPr>
              <a:t>✓  </a:t>
            </a:r>
            <a:r>
              <a:rPr sz="1350" dirty="0">
                <a:solidFill>
                  <a:srgbClr val="1F2937"/>
                </a:solidFill>
              </a:rPr>
              <a:t>Memoria SQLite + API </a:t>
            </a:r>
            <a:r>
              <a:rPr sz="1350" dirty="0" err="1">
                <a:solidFill>
                  <a:srgbClr val="1F2937"/>
                </a:solidFill>
              </a:rPr>
              <a:t>FastAP</a:t>
            </a:r>
            <a:r>
              <a:rPr lang="en-US" sz="1350" dirty="0" err="1">
                <a:solidFill>
                  <a:srgbClr val="1F2937"/>
                </a:solidFill>
              </a:rPr>
              <a:t>I</a:t>
            </a:r>
            <a:r>
              <a:rPr lang="en-US" sz="1350" dirty="0">
                <a:solidFill>
                  <a:srgbClr val="1F2937"/>
                </a:solidFill>
              </a:rPr>
              <a:t>.</a:t>
            </a:r>
            <a:endParaRPr sz="1350" dirty="0">
              <a:solidFill>
                <a:srgbClr val="1F2937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C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▣  EN PROGRESO / SIGUE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4937760" cy="13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lang="es-ES" sz="1600" b="1" dirty="0">
                <a:solidFill>
                  <a:srgbClr val="F59E0B"/>
                </a:solidFill>
              </a:rPr>
              <a:t>○  </a:t>
            </a:r>
            <a:r>
              <a:rPr lang="es-ES" sz="1400" dirty="0">
                <a:solidFill>
                  <a:srgbClr val="1F2937"/>
                </a:solidFill>
              </a:rPr>
              <a:t>Épica 07 · Interfaz de usuario</a:t>
            </a:r>
            <a:endParaRPr lang="en-US" sz="1400" b="1" dirty="0">
              <a:solidFill>
                <a:srgbClr val="F59E0B"/>
              </a:solidFill>
            </a:endParaRPr>
          </a:p>
          <a:p>
            <a:pPr>
              <a:spcAft>
                <a:spcPts val="1300"/>
              </a:spcAft>
            </a:pPr>
            <a:r>
              <a:rPr sz="1400" b="1" dirty="0">
                <a:solidFill>
                  <a:srgbClr val="F59E0B"/>
                </a:solidFill>
              </a:rPr>
              <a:t>○  </a:t>
            </a:r>
            <a:r>
              <a:rPr sz="1350" dirty="0" err="1">
                <a:solidFill>
                  <a:srgbClr val="1F2937"/>
                </a:solidFill>
              </a:rPr>
              <a:t>Épica</a:t>
            </a:r>
            <a:r>
              <a:rPr sz="1350" dirty="0">
                <a:solidFill>
                  <a:srgbClr val="1F2937"/>
                </a:solidFill>
              </a:rPr>
              <a:t> 08 · </a:t>
            </a:r>
            <a:r>
              <a:rPr sz="1350" dirty="0" err="1">
                <a:solidFill>
                  <a:srgbClr val="1F2937"/>
                </a:solidFill>
              </a:rPr>
              <a:t>Observabilidad</a:t>
            </a:r>
            <a:r>
              <a:rPr sz="1350" dirty="0">
                <a:solidFill>
                  <a:srgbClr val="1F2937"/>
                </a:solidFill>
              </a:rPr>
              <a:t>: </a:t>
            </a:r>
            <a:r>
              <a:rPr sz="1350" dirty="0" err="1">
                <a:solidFill>
                  <a:srgbClr val="1F2937"/>
                </a:solidFill>
              </a:rPr>
              <a:t>integrar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Langfuse</a:t>
            </a:r>
            <a:r>
              <a:rPr sz="1350" dirty="0">
                <a:solidFill>
                  <a:srgbClr val="1F2937"/>
                </a:solidFill>
              </a:rPr>
              <a:t> a dev (hoy </a:t>
            </a:r>
            <a:r>
              <a:rPr sz="1350" dirty="0" err="1">
                <a:solidFill>
                  <a:srgbClr val="1F2937"/>
                </a:solidFill>
              </a:rPr>
              <a:t>en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su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rama</a:t>
            </a:r>
            <a:r>
              <a:rPr sz="1350" dirty="0">
                <a:solidFill>
                  <a:srgbClr val="1F2937"/>
                </a:solidFill>
              </a:rPr>
              <a:t>)</a:t>
            </a:r>
          </a:p>
          <a:p>
            <a:pPr>
              <a:spcAft>
                <a:spcPts val="1300"/>
              </a:spcAft>
            </a:pPr>
            <a:r>
              <a:rPr sz="1400" b="1" dirty="0">
                <a:solidFill>
                  <a:srgbClr val="F59E0B"/>
                </a:solidFill>
              </a:rPr>
              <a:t>○  </a:t>
            </a:r>
            <a:r>
              <a:rPr sz="1350" dirty="0" err="1">
                <a:solidFill>
                  <a:srgbClr val="1F2937"/>
                </a:solidFill>
              </a:rPr>
              <a:t>Épica</a:t>
            </a:r>
            <a:r>
              <a:rPr sz="1350" dirty="0">
                <a:solidFill>
                  <a:srgbClr val="1F2937"/>
                </a:solidFill>
              </a:rPr>
              <a:t> 09 · Profile bootstrap: </a:t>
            </a:r>
            <a:r>
              <a:rPr sz="1350" dirty="0" err="1">
                <a:solidFill>
                  <a:srgbClr val="1F2937"/>
                </a:solidFill>
              </a:rPr>
              <a:t>cerrar</a:t>
            </a:r>
            <a:r>
              <a:rPr sz="1350" dirty="0">
                <a:solidFill>
                  <a:srgbClr val="1F2937"/>
                </a:solidFill>
              </a:rPr>
              <a:t> </a:t>
            </a:r>
            <a:r>
              <a:rPr sz="1350" dirty="0" err="1">
                <a:solidFill>
                  <a:srgbClr val="1F2937"/>
                </a:solidFill>
              </a:rPr>
              <a:t>el</a:t>
            </a:r>
            <a:r>
              <a:rPr sz="1350" dirty="0">
                <a:solidFill>
                  <a:srgbClr val="1F2937"/>
                </a:solidFill>
              </a:rPr>
              <a:t> gap de carga de </a:t>
            </a:r>
            <a:r>
              <a:rPr sz="1350" dirty="0" err="1">
                <a:solidFill>
                  <a:srgbClr val="1F2937"/>
                </a:solidFill>
              </a:rPr>
              <a:t>perfi</a:t>
            </a:r>
            <a:r>
              <a:rPr lang="en-US" sz="1350" dirty="0" err="1">
                <a:solidFill>
                  <a:srgbClr val="1F2937"/>
                </a:solidFill>
              </a:rPr>
              <a:t>l</a:t>
            </a:r>
            <a:r>
              <a:rPr lang="en-US" sz="1350" dirty="0">
                <a:solidFill>
                  <a:srgbClr val="1F2937"/>
                </a:solidFill>
              </a:rPr>
              <a:t>.</a:t>
            </a:r>
            <a:endParaRPr sz="1350" dirty="0">
              <a:solidFill>
                <a:srgbClr val="1F2937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715000"/>
            <a:ext cx="1115568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dirty="0">
                <a:solidFill>
                  <a:srgbClr val="6B7280"/>
                </a:solidFill>
                <a:latin typeface="Calibri"/>
              </a:rPr>
              <a:t>Las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trazas</a:t>
            </a:r>
            <a:r>
              <a:rPr sz="12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que</a:t>
            </a:r>
            <a:r>
              <a:rPr sz="12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mostramos</a:t>
            </a:r>
            <a:r>
              <a:rPr sz="1200" b="0" dirty="0">
                <a:solidFill>
                  <a:srgbClr val="6B7280"/>
                </a:solidFill>
                <a:latin typeface="Calibri"/>
              </a:rPr>
              <a:t> se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generaron</a:t>
            </a:r>
            <a:r>
              <a:rPr sz="12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ejecutando</a:t>
            </a:r>
            <a:r>
              <a:rPr sz="1200" b="0" dirty="0">
                <a:solidFill>
                  <a:srgbClr val="6B7280"/>
                </a:solidFill>
                <a:latin typeface="Calibri"/>
              </a:rPr>
              <a:t> la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rama</a:t>
            </a:r>
            <a:r>
              <a:rPr sz="1200" b="0" dirty="0">
                <a:solidFill>
                  <a:srgbClr val="6B7280"/>
                </a:solidFill>
                <a:latin typeface="Calibri"/>
              </a:rPr>
              <a:t> de </a:t>
            </a:r>
            <a:r>
              <a:rPr sz="1200" b="0" dirty="0" err="1">
                <a:solidFill>
                  <a:srgbClr val="6B7280"/>
                </a:solidFill>
                <a:latin typeface="Calibri"/>
              </a:rPr>
              <a:t>observabilidad</a:t>
            </a:r>
            <a:endParaRPr sz="1200" b="0" dirty="0">
              <a:solidFill>
                <a:srgbClr val="6B72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77440"/>
            <a:ext cx="1737360" cy="635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Seis agentes que ejecutan de verdad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>
                <a:solidFill>
                  <a:srgbClr val="C4B5FD"/>
                </a:solidFill>
                <a:latin typeface="Calibri"/>
              </a:rPr>
              <a:t>Grafos reales del código · una traza real de punta a punta · estado honesto por épica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dirty="0">
                <a:solidFill>
                  <a:srgbClr val="9CA3AF"/>
                </a:solidFill>
                <a:latin typeface="Calibri"/>
              </a:rPr>
              <a:t>Tutor </a:t>
            </a:r>
            <a:r>
              <a:rPr sz="1300" b="0" dirty="0" err="1">
                <a:solidFill>
                  <a:srgbClr val="9CA3AF"/>
                </a:solidFill>
                <a:latin typeface="Calibri"/>
              </a:rPr>
              <a:t>Académico</a:t>
            </a:r>
            <a:r>
              <a:rPr sz="1300" b="0" dirty="0">
                <a:solidFill>
                  <a:srgbClr val="9CA3AF"/>
                </a:solidFill>
                <a:latin typeface="Calibri"/>
              </a:rPr>
              <a:t> Personal · IA 2026 · UTN Santa Fe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668</Words>
  <Application>Microsoft Office PowerPoint</Application>
  <PresentationFormat>Widescreen</PresentationFormat>
  <Paragraphs>116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 bernard</cp:lastModifiedBy>
  <cp:revision>5</cp:revision>
  <dcterms:created xsi:type="dcterms:W3CDTF">2013-01-27T09:14:16Z</dcterms:created>
  <dcterms:modified xsi:type="dcterms:W3CDTF">2026-06-21T20:39:34Z</dcterms:modified>
  <cp:category/>
</cp:coreProperties>
</file>